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57846D-F043-4E2C-8F3E-8E17FDD0B460}">
  <a:tblStyle styleId="{6757846D-F043-4E2C-8F3E-8E17FDD0B4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82d29d6172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82d29d61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802693956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8026939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a1ee9689cb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a1ee9689c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a4d15e673f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a4d15e673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a4d15e673f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a4d15e673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a4d15e673f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a4d15e673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a4d15e673f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a4d15e673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a4d15e673f_0_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a4d15e673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a4d15e673f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a4d15e673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a4d15e673f_0_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a4d15e673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a4d15e673f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a4d15e673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a4d15e673f_0_2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a4d15e673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a4d15e673f_0_2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a4d15e673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a4d15e673f_0_1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a4d15e673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a4d15e673f_0_1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a4d15e673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a4d15e673f_0_1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a4d15e673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a4d15e673f_0_1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a4d15e673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a4d15e673f_0_1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a4d15e673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a4d15e673f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a4d15e673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a4d15e673f_0_1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a4d15e673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a4d15e673f_0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a4d15e673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a4d15e673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a4d15e67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4" name="Google Shape;104;p2"/>
          <p:cNvSpPr txBox="1"/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42555" y="1541664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3"/>
          <p:cNvSpPr txBox="1"/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3"/>
          <p:cNvSpPr txBox="1"/>
          <p:nvPr>
            <p:ph idx="1" type="subTitle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4"/>
          <p:cNvGrpSpPr/>
          <p:nvPr/>
        </p:nvGrpSpPr>
        <p:grpSpPr>
          <a:xfrm>
            <a:off x="-175" y="0"/>
            <a:ext cx="9158125" cy="5149862"/>
            <a:chOff x="-175" y="0"/>
            <a:chExt cx="9158125" cy="5149862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78456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4"/>
            <p:cNvGrpSpPr/>
            <p:nvPr/>
          </p:nvGrpSpPr>
          <p:grpSpPr>
            <a:xfrm>
              <a:off x="-175" y="664293"/>
              <a:ext cx="318794" cy="653721"/>
              <a:chOff x="5385375" y="498300"/>
              <a:chExt cx="802200" cy="556500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" name="Google Shape;197;p4"/>
            <p:cNvSpPr/>
            <p:nvPr/>
          </p:nvSpPr>
          <p:spPr>
            <a:xfrm>
              <a:off x="666125" y="660475"/>
              <a:ext cx="666300" cy="66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4"/>
            <p:cNvGrpSpPr/>
            <p:nvPr/>
          </p:nvGrpSpPr>
          <p:grpSpPr>
            <a:xfrm>
              <a:off x="8994728" y="670955"/>
              <a:ext cx="149289" cy="653721"/>
              <a:chOff x="5385375" y="498300"/>
              <a:chExt cx="802200" cy="556500"/>
            </a:xfrm>
          </p:grpSpPr>
          <p:sp>
            <p:nvSpPr>
              <p:cNvPr id="200" name="Google Shape;200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4"/>
            <p:cNvGrpSpPr/>
            <p:nvPr/>
          </p:nvGrpSpPr>
          <p:grpSpPr>
            <a:xfrm>
              <a:off x="7508545" y="3014000"/>
              <a:ext cx="666403" cy="1475799"/>
              <a:chOff x="7508545" y="664625"/>
              <a:chExt cx="666403" cy="1475799"/>
            </a:xfrm>
          </p:grpSpPr>
          <p:sp>
            <p:nvSpPr>
              <p:cNvPr id="204" name="Google Shape;204;p4"/>
              <p:cNvSpPr/>
              <p:nvPr/>
            </p:nvSpPr>
            <p:spPr>
              <a:xfrm>
                <a:off x="7508545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710872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913198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508545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710872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913198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508545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710872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913198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7508545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7710872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7913198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8115524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8115524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8115524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115549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7508545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7710872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7913198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7508545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7710872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7913198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7508545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7710872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7913198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7508545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7710872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7913198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8115524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8115524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8115524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8115549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4"/>
            <p:cNvGrpSpPr/>
            <p:nvPr/>
          </p:nvGrpSpPr>
          <p:grpSpPr>
            <a:xfrm>
              <a:off x="666070" y="4483438"/>
              <a:ext cx="666403" cy="666424"/>
              <a:chOff x="7996345" y="980275"/>
              <a:chExt cx="666403" cy="666424"/>
            </a:xfrm>
          </p:grpSpPr>
          <p:sp>
            <p:nvSpPr>
              <p:cNvPr id="237" name="Google Shape;237;p4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3" name="Google Shape;253;p4"/>
          <p:cNvSpPr txBox="1"/>
          <p:nvPr>
            <p:ph idx="1" type="body"/>
          </p:nvPr>
        </p:nvSpPr>
        <p:spPr>
          <a:xfrm>
            <a:off x="1699000" y="660475"/>
            <a:ext cx="5045400" cy="38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▪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indent="-457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indent="-457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indent="-457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indent="-457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indent="-457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indent="-457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indent="-457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indent="-457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254" name="Google Shape;254;p4"/>
          <p:cNvSpPr txBox="1"/>
          <p:nvPr/>
        </p:nvSpPr>
        <p:spPr>
          <a:xfrm>
            <a:off x="666125" y="574543"/>
            <a:ext cx="666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“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255" name="Google Shape;255;p4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58" name="Google Shape;258;p5"/>
          <p:cNvSpPr txBox="1"/>
          <p:nvPr>
            <p:ph idx="1" type="body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/>
        </p:txBody>
      </p:sp>
      <p:sp>
        <p:nvSpPr>
          <p:cNvPr id="259" name="Google Shape;259;p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" name="Google Shape;260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61" name="Google Shape;261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" name="Google Shape;264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9" name="Google Shape;269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6" name="Google Shape;286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9" name="Google Shape;289;p5"/>
          <p:cNvSpPr/>
          <p:nvPr/>
        </p:nvSpPr>
        <p:spPr>
          <a:xfrm>
            <a:off x="705975" y="4423000"/>
            <a:ext cx="351600" cy="72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322375" y="646500"/>
            <a:ext cx="44706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6"/>
          <p:cNvGrpSpPr/>
          <p:nvPr/>
        </p:nvGrpSpPr>
        <p:grpSpPr>
          <a:xfrm>
            <a:off x="-207" y="646493"/>
            <a:ext cx="155867" cy="653721"/>
            <a:chOff x="5385375" y="498300"/>
            <a:chExt cx="802200" cy="556500"/>
          </a:xfrm>
        </p:grpSpPr>
        <p:sp>
          <p:nvSpPr>
            <p:cNvPr id="295" name="Google Shape;295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6"/>
          <p:cNvGrpSpPr/>
          <p:nvPr/>
        </p:nvGrpSpPr>
        <p:grpSpPr>
          <a:xfrm>
            <a:off x="5434002" y="4483463"/>
            <a:ext cx="666347" cy="666373"/>
            <a:chOff x="7134700" y="414375"/>
            <a:chExt cx="501919" cy="501900"/>
          </a:xfrm>
        </p:grpSpPr>
        <p:sp>
          <p:nvSpPr>
            <p:cNvPr id="299" name="Google Shape;299;p6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6"/>
          <p:cNvGrpSpPr/>
          <p:nvPr/>
        </p:nvGrpSpPr>
        <p:grpSpPr>
          <a:xfrm rot="-5400000">
            <a:off x="8018100" y="-167410"/>
            <a:ext cx="318554" cy="653721"/>
            <a:chOff x="5385375" y="498300"/>
            <a:chExt cx="802200" cy="556500"/>
          </a:xfrm>
        </p:grpSpPr>
        <p:sp>
          <p:nvSpPr>
            <p:cNvPr id="316" name="Google Shape;316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" name="Google Shape;319;p6"/>
          <p:cNvSpPr txBox="1"/>
          <p:nvPr>
            <p:ph type="title"/>
          </p:nvPr>
        </p:nvSpPr>
        <p:spPr>
          <a:xfrm>
            <a:off x="508700" y="646500"/>
            <a:ext cx="42843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0" name="Google Shape;320;p6"/>
          <p:cNvSpPr txBox="1"/>
          <p:nvPr>
            <p:ph idx="1" type="body"/>
          </p:nvPr>
        </p:nvSpPr>
        <p:spPr>
          <a:xfrm>
            <a:off x="508700" y="1599700"/>
            <a:ext cx="42843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/>
        </p:txBody>
      </p:sp>
      <p:sp>
        <p:nvSpPr>
          <p:cNvPr id="321" name="Google Shape;321;p6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4" name="Google Shape;324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" name="Google Shape;327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8" name="Google Shape;32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" name="Google Shape;331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2" name="Google Shape;332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2" name="Google Shape;352;p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/>
        </p:txBody>
      </p:sp>
      <p:sp>
        <p:nvSpPr>
          <p:cNvPr id="354" name="Google Shape;354;p7"/>
          <p:cNvSpPr txBox="1"/>
          <p:nvPr>
            <p:ph idx="2" type="body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/>
        </p:txBody>
      </p:sp>
      <p:sp>
        <p:nvSpPr>
          <p:cNvPr id="355" name="Google Shape;355;p7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8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58" name="Google Shape;358;p8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1" name="Google Shape;361;p8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62" name="Google Shape;362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" name="Google Shape;365;p8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66" name="Google Shape;366;p8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8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83" name="Google Shape;383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6" name="Google Shape;386;p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87" name="Google Shape;387;p8"/>
          <p:cNvSpPr txBox="1"/>
          <p:nvPr>
            <p:ph idx="1" type="body"/>
          </p:nvPr>
        </p:nvSpPr>
        <p:spPr>
          <a:xfrm>
            <a:off x="1165875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88" name="Google Shape;388;p8"/>
          <p:cNvSpPr txBox="1"/>
          <p:nvPr>
            <p:ph idx="2" type="body"/>
          </p:nvPr>
        </p:nvSpPr>
        <p:spPr>
          <a:xfrm>
            <a:off x="3706438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89" name="Google Shape;389;p8"/>
          <p:cNvSpPr txBox="1"/>
          <p:nvPr>
            <p:ph idx="3" type="body"/>
          </p:nvPr>
        </p:nvSpPr>
        <p:spPr>
          <a:xfrm>
            <a:off x="6247001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90" name="Google Shape;390;p8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9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93" name="Google Shape;393;p9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9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97" name="Google Shape;397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9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01" name="Google Shape;401;p9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9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18" name="Google Shape;418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1" name="Google Shape;421;p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2" name="Google Shape;422;p9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322375" y="4489799"/>
            <a:ext cx="7524000" cy="33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10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28" name="Google Shape;428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10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32" name="Google Shape;432;p10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0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449" name="Google Shape;449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10"/>
          <p:cNvSpPr txBox="1"/>
          <p:nvPr>
            <p:ph idx="1" type="body"/>
          </p:nvPr>
        </p:nvSpPr>
        <p:spPr>
          <a:xfrm>
            <a:off x="650725" y="4489800"/>
            <a:ext cx="7195800" cy="33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453" name="Google Shape;453;p1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1" type="blank">
  <p:cSld name="BLANK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456" name="Google Shape;456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8" name="Google Shape;458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459" name="Google Shape;45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2" name="Google Shape;462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63" name="Google Shape;463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9" name="Google Shape;479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80" name="Google Shape;480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3" name="Google Shape;483;p1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2">
  <p:cSld name="BLANK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8" name="Google Shape;48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2" name="Google Shape;492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9" name="Google Shape;509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12"/>
          <p:cNvSpPr txBox="1"/>
          <p:nvPr>
            <p:ph idx="12" type="sldNum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810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hyperlink" Target="https://www.populationconnection.org/talking-about-population-growth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1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"/>
          <p:cNvSpPr txBox="1"/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8" name="Google Shape;51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" y="-25"/>
            <a:ext cx="914187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4"/>
          <p:cNvSpPr txBox="1"/>
          <p:nvPr>
            <p:ph type="ctrTitle"/>
          </p:nvPr>
        </p:nvSpPr>
        <p:spPr>
          <a:xfrm>
            <a:off x="518725" y="1541675"/>
            <a:ext cx="64764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2.4.1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Dynamics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Essential Learning </a:t>
            </a:r>
            <a:endParaRPr/>
          </a:p>
        </p:txBody>
      </p:sp>
      <p:sp>
        <p:nvSpPr>
          <p:cNvPr id="529" name="Google Shape;529;p15"/>
          <p:cNvSpPr txBox="1"/>
          <p:nvPr>
            <p:ph idx="1" type="body"/>
          </p:nvPr>
        </p:nvSpPr>
        <p:spPr>
          <a:xfrm>
            <a:off x="834450" y="1442050"/>
            <a:ext cx="6981900" cy="23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2.4 Explain factors that account for contemporary and historical trends in population growth &amp; decline.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Demographic </a:t>
            </a: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factors</a:t>
            </a: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that determine a population’s growth and decline are fertility, mortality and migration.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Geographers use the rate of natural increase and population doubling time to explain population growth and decline.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0" name="Google Shape;530;p1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1" name="Google Shape;5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562926" y="1565126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6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factors determine a population’s growth &amp; decline?</a:t>
            </a:r>
            <a:endParaRPr sz="2400"/>
          </a:p>
        </p:txBody>
      </p:sp>
      <p:sp>
        <p:nvSpPr>
          <p:cNvPr id="537" name="Google Shape;537;p16"/>
          <p:cNvSpPr txBox="1"/>
          <p:nvPr>
            <p:ph idx="1" type="body"/>
          </p:nvPr>
        </p:nvSpPr>
        <p:spPr>
          <a:xfrm>
            <a:off x="801775" y="1415975"/>
            <a:ext cx="5196600" cy="3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Barlow Semi Condensed Light"/>
              <a:buAutoNum type="arabi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Fertility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lphaL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Crude Birth Rate (CBR)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lphaL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Total Fertility Rate (TFR)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rabi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Mortality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lphaL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Life Expectancy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lphaL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Crude Death Rate (CDR)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lphaL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Infant Mortality Rate (IMR)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 Semi Condensed Light"/>
              <a:buAutoNum type="arabicPeriod"/>
            </a:pP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Migration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538" name="Google Shape;538;p16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9" name="Google Shape;53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7550" y="1540563"/>
            <a:ext cx="4427555" cy="285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Fertility</a:t>
            </a:r>
            <a:endParaRPr sz="2400"/>
          </a:p>
        </p:txBody>
      </p:sp>
      <p:sp>
        <p:nvSpPr>
          <p:cNvPr id="545" name="Google Shape;545;p17"/>
          <p:cNvSpPr txBox="1"/>
          <p:nvPr>
            <p:ph idx="1" type="body"/>
          </p:nvPr>
        </p:nvSpPr>
        <p:spPr>
          <a:xfrm>
            <a:off x="661100" y="1415975"/>
            <a:ext cx="3843300" cy="3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 Semi Condensed Light"/>
              <a:buAutoNum type="alpha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Crude Birth Rate (CBR)</a:t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arlow Semi Condensed Light"/>
              <a:buAutoNum type="roman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The number of live births </a:t>
            </a: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occurring</a:t>
            </a: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 in one year per 1,000 people.  </a:t>
            </a:r>
            <a:b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</a:br>
            <a:endParaRPr sz="6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alpha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Total Fertility Rate (TFR)</a:t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roman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Average number of children who would be born per woman during her childbearing years.</a:t>
            </a:r>
            <a:r>
              <a:rPr lang="en" sz="20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  </a:t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roman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Globally TFR</a:t>
            </a: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 has been significantly decreasing over time.</a:t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546" name="Google Shape;546;p17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7" name="Google Shape;5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425" y="1452738"/>
            <a:ext cx="4522349" cy="290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Mortality</a:t>
            </a:r>
            <a:endParaRPr sz="2400"/>
          </a:p>
        </p:txBody>
      </p:sp>
      <p:sp>
        <p:nvSpPr>
          <p:cNvPr id="553" name="Google Shape;553;p18"/>
          <p:cNvSpPr txBox="1"/>
          <p:nvPr>
            <p:ph idx="1" type="body"/>
          </p:nvPr>
        </p:nvSpPr>
        <p:spPr>
          <a:xfrm>
            <a:off x="661100" y="1415975"/>
            <a:ext cx="3757200" cy="3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Barlow Semi Condensed Light"/>
              <a:buAutoNum type="alpha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Life Expectancy </a:t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roman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The number of years the average person will live. </a:t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roman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This has been steady increasing over time, which has contributed to population growth. </a:t>
            </a:r>
            <a:b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</a:b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alpha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Crude Death Rate (CDR) </a:t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romanLcPeriod"/>
            </a:pPr>
            <a: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The number of deaths occuring in one year per 1,000 people. </a:t>
            </a:r>
            <a:br>
              <a:rPr lang="en" sz="18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</a:b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 Semi Condensed Light"/>
              <a:buAutoNum type="alphaLcPeriod"/>
            </a:pPr>
            <a:r>
              <a:t/>
            </a:r>
            <a:endParaRPr sz="18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554" name="Google Shape;554;p18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5" name="Google Shape;5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300" y="1474400"/>
            <a:ext cx="4420899" cy="2858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Mortality</a:t>
            </a:r>
            <a:endParaRPr sz="2400"/>
          </a:p>
        </p:txBody>
      </p:sp>
      <p:sp>
        <p:nvSpPr>
          <p:cNvPr id="561" name="Google Shape;561;p19"/>
          <p:cNvSpPr txBox="1"/>
          <p:nvPr>
            <p:ph idx="1" type="body"/>
          </p:nvPr>
        </p:nvSpPr>
        <p:spPr>
          <a:xfrm>
            <a:off x="742475" y="1415975"/>
            <a:ext cx="3675900" cy="3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c</a:t>
            </a:r>
            <a:r>
              <a:rPr lang="en" sz="1800">
                <a:solidFill>
                  <a:srgbClr val="000000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.     Infant Mortality Rate (IMR) </a:t>
            </a:r>
            <a:endParaRPr sz="1800">
              <a:solidFill>
                <a:srgbClr val="000000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Barlow Semi Condensed Light"/>
              <a:buAutoNum type="romanLcPeriod"/>
            </a:pPr>
            <a:r>
              <a:rPr lang="en" sz="1800">
                <a:solidFill>
                  <a:srgbClr val="000000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The number of children who die  before one year of age. </a:t>
            </a:r>
            <a:endParaRPr sz="1800">
              <a:solidFill>
                <a:srgbClr val="000000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Font typeface="Barlow Semi Condensed Light"/>
              <a:buAutoNum type="romanLcPeriod"/>
            </a:pPr>
            <a:r>
              <a:rPr lang="en" sz="1800">
                <a:solidFill>
                  <a:srgbClr val="000000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Typically when IMR goes down, life expectancy goes up which leads to higher population growth. </a:t>
            </a:r>
            <a:endParaRPr sz="1800">
              <a:solidFill>
                <a:srgbClr val="000000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562" name="Google Shape;562;p19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3" name="Google Shape;5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0775" y="1470400"/>
            <a:ext cx="4420824" cy="2721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0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How do geographers calculate population growth &amp; decline? </a:t>
            </a:r>
            <a:endParaRPr sz="2300"/>
          </a:p>
        </p:txBody>
      </p:sp>
      <p:sp>
        <p:nvSpPr>
          <p:cNvPr id="569" name="Google Shape;569;p20"/>
          <p:cNvSpPr txBox="1"/>
          <p:nvPr>
            <p:ph idx="1" type="body"/>
          </p:nvPr>
        </p:nvSpPr>
        <p:spPr>
          <a:xfrm>
            <a:off x="828550" y="1366575"/>
            <a:ext cx="7779900" cy="8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Natural Increase Rate (NIR) </a:t>
            </a:r>
            <a:r>
              <a:rPr i="1" lang="en" sz="1800"/>
              <a:t>or</a:t>
            </a:r>
            <a:r>
              <a:rPr lang="en" sz="1800"/>
              <a:t> Rate of Natural Increase (RNI)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Does not account for migration.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Can be a negative number, indicating population decrease.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Usually expressed in a percentage </a:t>
            </a:r>
            <a:endParaRPr sz="1800"/>
          </a:p>
        </p:txBody>
      </p:sp>
      <p:sp>
        <p:nvSpPr>
          <p:cNvPr id="570" name="Google Shape;570;p2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71" name="Google Shape;571;p20"/>
          <p:cNvGrpSpPr/>
          <p:nvPr/>
        </p:nvGrpSpPr>
        <p:grpSpPr>
          <a:xfrm>
            <a:off x="1195788" y="3014700"/>
            <a:ext cx="3062013" cy="1885020"/>
            <a:chOff x="1195788" y="2786100"/>
            <a:chExt cx="3062013" cy="1885020"/>
          </a:xfrm>
        </p:grpSpPr>
        <p:sp>
          <p:nvSpPr>
            <p:cNvPr id="572" name="Google Shape;572;p20"/>
            <p:cNvSpPr/>
            <p:nvPr/>
          </p:nvSpPr>
          <p:spPr>
            <a:xfrm>
              <a:off x="1377325" y="2786100"/>
              <a:ext cx="2698947" cy="72967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CBR - CDR</a:t>
              </a:r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1195788" y="3704250"/>
              <a:ext cx="3062013" cy="48725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Arial"/>
                </a:rPr>
                <a:t>___________________</a:t>
              </a:r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2344138" y="3941450"/>
              <a:ext cx="584418" cy="72967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10</a:t>
              </a:r>
            </a:p>
          </p:txBody>
        </p:sp>
      </p:grpSp>
      <p:pic>
        <p:nvPicPr>
          <p:cNvPr id="575" name="Google Shape;5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125" y="2728216"/>
            <a:ext cx="3747800" cy="2334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1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How do geographers calculate population growth &amp; decline? </a:t>
            </a:r>
            <a:endParaRPr sz="2300"/>
          </a:p>
        </p:txBody>
      </p:sp>
      <p:sp>
        <p:nvSpPr>
          <p:cNvPr id="581" name="Google Shape;581;p21"/>
          <p:cNvSpPr txBox="1"/>
          <p:nvPr>
            <p:ph idx="1" type="body"/>
          </p:nvPr>
        </p:nvSpPr>
        <p:spPr>
          <a:xfrm>
            <a:off x="858550" y="1411550"/>
            <a:ext cx="7779900" cy="85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Natural Increase Rate (NIR) </a:t>
            </a:r>
            <a:r>
              <a:rPr i="1" lang="en" sz="1800"/>
              <a:t>or</a:t>
            </a:r>
            <a:r>
              <a:rPr lang="en" sz="1800"/>
              <a:t> Rate of Natural Increase (RNI)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NIR - United States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CBR - 12.4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CDR - 8.3  </a:t>
            </a:r>
            <a:endParaRPr sz="1800"/>
          </a:p>
        </p:txBody>
      </p:sp>
      <p:sp>
        <p:nvSpPr>
          <p:cNvPr id="582" name="Google Shape;582;p2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3" name="Google Shape;583;p21"/>
          <p:cNvGrpSpPr/>
          <p:nvPr/>
        </p:nvGrpSpPr>
        <p:grpSpPr>
          <a:xfrm>
            <a:off x="858550" y="3281184"/>
            <a:ext cx="1913652" cy="1317616"/>
            <a:chOff x="4568700" y="3033709"/>
            <a:chExt cx="1913652" cy="1317616"/>
          </a:xfrm>
        </p:grpSpPr>
        <p:sp>
          <p:nvSpPr>
            <p:cNvPr id="584" name="Google Shape;584;p21"/>
            <p:cNvSpPr/>
            <p:nvPr/>
          </p:nvSpPr>
          <p:spPr>
            <a:xfrm>
              <a:off x="4795200" y="3033709"/>
              <a:ext cx="1460646" cy="539225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12.4-8.3</a:t>
              </a:r>
            </a:p>
          </p:txBody>
        </p:sp>
        <p:sp>
          <p:nvSpPr>
            <p:cNvPr id="585" name="Google Shape;585;p21"/>
            <p:cNvSpPr/>
            <p:nvPr/>
          </p:nvSpPr>
          <p:spPr>
            <a:xfrm>
              <a:off x="4568700" y="3668150"/>
              <a:ext cx="1913652" cy="48725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Arial"/>
                </a:rPr>
                <a:t>___________________</a:t>
              </a:r>
            </a:p>
          </p:txBody>
        </p:sp>
        <p:sp>
          <p:nvSpPr>
            <p:cNvPr id="586" name="Google Shape;586;p21"/>
            <p:cNvSpPr/>
            <p:nvPr/>
          </p:nvSpPr>
          <p:spPr>
            <a:xfrm>
              <a:off x="5209500" y="3812100"/>
              <a:ext cx="545950" cy="539225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10</a:t>
              </a:r>
            </a:p>
          </p:txBody>
        </p:sp>
      </p:grpSp>
      <p:sp>
        <p:nvSpPr>
          <p:cNvPr id="587" name="Google Shape;587;p21"/>
          <p:cNvSpPr/>
          <p:nvPr/>
        </p:nvSpPr>
        <p:spPr>
          <a:xfrm>
            <a:off x="3395788" y="3488138"/>
            <a:ext cx="1686665" cy="72967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Oswald"/>
              </a:rPr>
              <a:t>0.41%</a:t>
            </a:r>
          </a:p>
        </p:txBody>
      </p:sp>
      <p:sp>
        <p:nvSpPr>
          <p:cNvPr id="588" name="Google Shape;588;p21"/>
          <p:cNvSpPr/>
          <p:nvPr/>
        </p:nvSpPr>
        <p:spPr>
          <a:xfrm>
            <a:off x="2897462" y="3718050"/>
            <a:ext cx="333600" cy="4222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Arial"/>
              </a:rPr>
              <a:t>=</a:t>
            </a:r>
          </a:p>
        </p:txBody>
      </p:sp>
      <p:pic>
        <p:nvPicPr>
          <p:cNvPr id="589" name="Google Shape;5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200" y="2155466"/>
            <a:ext cx="3747800" cy="2334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2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How do geographers calculate population growth &amp; decline? </a:t>
            </a:r>
            <a:endParaRPr sz="2300"/>
          </a:p>
        </p:txBody>
      </p:sp>
      <p:sp>
        <p:nvSpPr>
          <p:cNvPr id="595" name="Google Shape;595;p22"/>
          <p:cNvSpPr txBox="1"/>
          <p:nvPr>
            <p:ph idx="1" type="body"/>
          </p:nvPr>
        </p:nvSpPr>
        <p:spPr>
          <a:xfrm>
            <a:off x="828550" y="1366575"/>
            <a:ext cx="4228800" cy="35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b</a:t>
            </a:r>
            <a:r>
              <a:rPr lang="en" sz="1800">
                <a:solidFill>
                  <a:srgbClr val="FF9900"/>
                </a:solidFill>
              </a:rPr>
              <a:t>.</a:t>
            </a:r>
            <a:r>
              <a:rPr lang="en" sz="1800"/>
              <a:t>   Population Growth Rate </a:t>
            </a:r>
            <a:endParaRPr sz="1800"/>
          </a:p>
          <a:p>
            <a:pPr indent="-342900" lvl="1" marL="914400" rtl="0" algn="l">
              <a:spcBef>
                <a:spcPts val="48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More accurate measure because it accounts for migration.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b="1" lang="en" sz="1800" u="sng">
                <a:latin typeface="Barlow"/>
                <a:ea typeface="Barlow"/>
                <a:cs typeface="Barlow"/>
                <a:sym typeface="Barlow"/>
              </a:rPr>
              <a:t>I</a:t>
            </a:r>
            <a:r>
              <a:rPr lang="en" sz="1800"/>
              <a:t>mmigrants - people who moved </a:t>
            </a:r>
            <a:r>
              <a:rPr b="1" lang="en" sz="1800" u="sng">
                <a:latin typeface="Barlow"/>
                <a:ea typeface="Barlow"/>
                <a:cs typeface="Barlow"/>
                <a:sym typeface="Barlow"/>
              </a:rPr>
              <a:t>i</a:t>
            </a:r>
            <a:r>
              <a:rPr lang="en" sz="1800"/>
              <a:t>nto a country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Emigrants - people that move out of the country.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 sz="1800"/>
              <a:t>United States - 0.72%</a:t>
            </a:r>
            <a:endParaRPr sz="1800"/>
          </a:p>
        </p:txBody>
      </p:sp>
      <p:sp>
        <p:nvSpPr>
          <p:cNvPr id="596" name="Google Shape;596;p22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22"/>
          <p:cNvSpPr/>
          <p:nvPr/>
        </p:nvSpPr>
        <p:spPr>
          <a:xfrm>
            <a:off x="743475" y="4489800"/>
            <a:ext cx="7671208" cy="44497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Oswald"/>
              </a:rPr>
              <a:t>Births - Deaths + Immigrants - Emigrants</a:t>
            </a:r>
          </a:p>
        </p:txBody>
      </p:sp>
      <p:pic>
        <p:nvPicPr>
          <p:cNvPr id="598" name="Google Shape;5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725" y="147515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How do geographers calculate population growth &amp; decline? </a:t>
            </a:r>
            <a:endParaRPr sz="2300"/>
          </a:p>
        </p:txBody>
      </p:sp>
      <p:sp>
        <p:nvSpPr>
          <p:cNvPr id="604" name="Google Shape;604;p23"/>
          <p:cNvSpPr txBox="1"/>
          <p:nvPr>
            <p:ph idx="1" type="body"/>
          </p:nvPr>
        </p:nvSpPr>
        <p:spPr>
          <a:xfrm>
            <a:off x="828550" y="1366575"/>
            <a:ext cx="76758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</a:t>
            </a:r>
            <a:r>
              <a:rPr lang="en" sz="1800">
                <a:solidFill>
                  <a:srgbClr val="FF9900"/>
                </a:solidFill>
              </a:rPr>
              <a:t>.</a:t>
            </a:r>
            <a:r>
              <a:rPr lang="en" sz="1800"/>
              <a:t>   Doubling Time: The number of years in which a population will double assuming the growth rate remains stable. </a:t>
            </a:r>
            <a:endParaRPr sz="18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5" name="Google Shape;605;p23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6" name="Google Shape;606;p23"/>
          <p:cNvSpPr/>
          <p:nvPr/>
        </p:nvSpPr>
        <p:spPr>
          <a:xfrm>
            <a:off x="1564713" y="2491163"/>
            <a:ext cx="583001" cy="72967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Oswald"/>
              </a:rPr>
              <a:t>70</a:t>
            </a:r>
          </a:p>
        </p:txBody>
      </p:sp>
      <p:sp>
        <p:nvSpPr>
          <p:cNvPr id="607" name="Google Shape;607;p23"/>
          <p:cNvSpPr/>
          <p:nvPr/>
        </p:nvSpPr>
        <p:spPr>
          <a:xfrm>
            <a:off x="1072375" y="3445100"/>
            <a:ext cx="1567685" cy="487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Arial"/>
              </a:rPr>
              <a:t>___________________</a:t>
            </a:r>
          </a:p>
        </p:txBody>
      </p:sp>
      <p:sp>
        <p:nvSpPr>
          <p:cNvPr id="608" name="Google Shape;608;p23"/>
          <p:cNvSpPr/>
          <p:nvPr/>
        </p:nvSpPr>
        <p:spPr>
          <a:xfrm>
            <a:off x="1434013" y="3718100"/>
            <a:ext cx="844395" cy="71553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Oswald"/>
              </a:rPr>
              <a:t>NIR</a:t>
            </a:r>
          </a:p>
        </p:txBody>
      </p:sp>
      <p:cxnSp>
        <p:nvCxnSpPr>
          <p:cNvPr id="609" name="Google Shape;609;p23"/>
          <p:cNvCxnSpPr/>
          <p:nvPr/>
        </p:nvCxnSpPr>
        <p:spPr>
          <a:xfrm>
            <a:off x="3012925" y="2109050"/>
            <a:ext cx="10800" cy="2829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grpSp>
        <p:nvGrpSpPr>
          <p:cNvPr id="610" name="Google Shape;610;p23"/>
          <p:cNvGrpSpPr/>
          <p:nvPr/>
        </p:nvGrpSpPr>
        <p:grpSpPr>
          <a:xfrm>
            <a:off x="3471900" y="2491163"/>
            <a:ext cx="4928978" cy="1906945"/>
            <a:chOff x="3396600" y="2665088"/>
            <a:chExt cx="4928978" cy="1906945"/>
          </a:xfrm>
        </p:grpSpPr>
        <p:sp>
          <p:nvSpPr>
            <p:cNvPr id="611" name="Google Shape;611;p23"/>
            <p:cNvSpPr/>
            <p:nvPr/>
          </p:nvSpPr>
          <p:spPr>
            <a:xfrm>
              <a:off x="3524913" y="3842363"/>
              <a:ext cx="1686665" cy="72967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0.41%</a:t>
              </a:r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3888938" y="2665088"/>
              <a:ext cx="583001" cy="72967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70</a:t>
              </a:r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3396600" y="3619025"/>
              <a:ext cx="1567685" cy="48725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Arial"/>
                </a:rPr>
                <a:t>___________________</a:t>
              </a:r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5286287" y="3432263"/>
              <a:ext cx="333600" cy="42225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Arial"/>
                </a:rPr>
                <a:t>=</a:t>
              </a:r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5941863" y="3278563"/>
              <a:ext cx="2383716" cy="843626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000000"/>
                  </a:solidFill>
                  <a:latin typeface="Oswald"/>
                </a:rPr>
                <a:t>175 years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Essential Learning </a:t>
            </a:r>
            <a:endParaRPr/>
          </a:p>
        </p:txBody>
      </p:sp>
      <p:sp>
        <p:nvSpPr>
          <p:cNvPr id="621" name="Google Shape;621;p24"/>
          <p:cNvSpPr txBox="1"/>
          <p:nvPr>
            <p:ph idx="1" type="body"/>
          </p:nvPr>
        </p:nvSpPr>
        <p:spPr>
          <a:xfrm>
            <a:off x="834450" y="1442050"/>
            <a:ext cx="6981900" cy="23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2.4 Explain factors that account for contemporary and historical trends in population growth &amp; decline.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Demographic factors that determine a population’s growth and decline are fertility, mortality and migration.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Geographers use the rate of natural increase and population doubling time to explain population growth and decline.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2" name="Google Shape;622;p24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3" name="Google Shape;6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562926" y="1565126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5"/>
          <p:cNvSpPr txBox="1"/>
          <p:nvPr>
            <p:ph type="ctrTitle"/>
          </p:nvPr>
        </p:nvSpPr>
        <p:spPr>
          <a:xfrm>
            <a:off x="518725" y="1541675"/>
            <a:ext cx="64764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2.4.2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Dynamics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Essential Learning </a:t>
            </a:r>
            <a:endParaRPr/>
          </a:p>
        </p:txBody>
      </p:sp>
      <p:sp>
        <p:nvSpPr>
          <p:cNvPr id="634" name="Google Shape;634;p26"/>
          <p:cNvSpPr txBox="1"/>
          <p:nvPr>
            <p:ph idx="1" type="body"/>
          </p:nvPr>
        </p:nvSpPr>
        <p:spPr>
          <a:xfrm>
            <a:off x="834450" y="1442050"/>
            <a:ext cx="6981900" cy="23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2.4 Explain factors that account for contemporary and historical trends in population growth &amp; decline.</a:t>
            </a:r>
            <a:endParaRPr sz="2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Social, cultural, political, and economic factors influence fertility, mortality and migration rates. </a:t>
            </a:r>
            <a:br>
              <a:rPr lang="en" sz="1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br>
              <a:rPr lang="en" sz="1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br>
              <a:rPr lang="en" sz="1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endParaRPr sz="1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2.8 Explain how the changing role of females has demographic consequences in different parts of the world. </a:t>
            </a:r>
            <a:endParaRPr sz="2000"/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Changing social values and access to education, employment, health care, and contraception have reduced fertility rates in most parts of the world.</a:t>
            </a:r>
            <a:endParaRPr sz="100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0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Changing social, economic, and political roles for females have influenced patterns of fertility, mortality….</a:t>
            </a:r>
            <a:endParaRPr sz="1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5" name="Google Shape;635;p26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6" name="Google Shape;6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562926" y="1565126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 Trends in Population Growth &amp; Decline </a:t>
            </a:r>
            <a:endParaRPr/>
          </a:p>
        </p:txBody>
      </p:sp>
      <p:sp>
        <p:nvSpPr>
          <p:cNvPr id="642" name="Google Shape;642;p27"/>
          <p:cNvSpPr txBox="1"/>
          <p:nvPr>
            <p:ph idx="1" type="body"/>
          </p:nvPr>
        </p:nvSpPr>
        <p:spPr>
          <a:xfrm>
            <a:off x="763975" y="1438275"/>
            <a:ext cx="3798600" cy="3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Throughout most of history, population growth was very low.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Starting around 1750 </a:t>
            </a:r>
            <a:endParaRPr sz="18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▫"/>
            </a:pPr>
            <a:r>
              <a:rPr lang="en" sz="1500"/>
              <a:t>Agricultural Revolution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▫"/>
            </a:pPr>
            <a:r>
              <a:rPr lang="en" sz="1500"/>
              <a:t>Industrial Revolution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▫"/>
            </a:pPr>
            <a:r>
              <a:rPr lang="en" sz="1500"/>
              <a:t>Rapid </a:t>
            </a:r>
            <a:r>
              <a:rPr lang="en" sz="1500"/>
              <a:t>urbanization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▫"/>
            </a:pPr>
            <a:r>
              <a:rPr lang="en" sz="1500"/>
              <a:t>Advances in healthcare &amp; sanitation 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First 1 billion in 1804</a:t>
            </a:r>
            <a:endParaRPr sz="18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▫"/>
            </a:pPr>
            <a:r>
              <a:rPr lang="en" sz="1500"/>
              <a:t>Since then, doubling time has </a:t>
            </a:r>
            <a:r>
              <a:rPr lang="en" sz="1500"/>
              <a:t>decreased</a:t>
            </a:r>
            <a:r>
              <a:rPr lang="en" sz="1500"/>
              <a:t> as population growth increased rapidly </a:t>
            </a:r>
            <a:endParaRPr sz="1500"/>
          </a:p>
        </p:txBody>
      </p:sp>
      <p:sp>
        <p:nvSpPr>
          <p:cNvPr id="643" name="Google Shape;643;p27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4" name="Google Shape;6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225" y="1497500"/>
            <a:ext cx="4330197" cy="281279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27"/>
          <p:cNvSpPr/>
          <p:nvPr/>
        </p:nvSpPr>
        <p:spPr>
          <a:xfrm>
            <a:off x="7629450" y="3734000"/>
            <a:ext cx="245100" cy="234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000000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7"/>
          <p:cNvSpPr txBox="1"/>
          <p:nvPr/>
        </p:nvSpPr>
        <p:spPr>
          <a:xfrm>
            <a:off x="4495600" y="4325525"/>
            <a:ext cx="400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Source: </a:t>
            </a:r>
            <a:r>
              <a:rPr lang="en" sz="700" u="sng">
                <a:solidFill>
                  <a:schemeClr val="hlink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  <a:hlinkClick r:id="rId4"/>
              </a:rPr>
              <a:t>https://www.populationconnection.org/talking-about-population-growth/</a:t>
            </a:r>
            <a:r>
              <a:rPr lang="en" sz="700">
                <a:latin typeface="Barlow Semi Condensed Light"/>
                <a:ea typeface="Barlow Semi Condensed Light"/>
                <a:cs typeface="Barlow Semi Condensed Light"/>
                <a:sym typeface="Barlow Semi Condensed Light"/>
              </a:rPr>
              <a:t> </a:t>
            </a:r>
            <a:endParaRPr sz="700"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Contemporary</a:t>
            </a:r>
            <a:r>
              <a:rPr lang="en"/>
              <a:t> Trends in Population Growth &amp; Decline </a:t>
            </a:r>
            <a:endParaRPr/>
          </a:p>
        </p:txBody>
      </p:sp>
      <p:sp>
        <p:nvSpPr>
          <p:cNvPr id="652" name="Google Shape;652;p28"/>
          <p:cNvSpPr txBox="1"/>
          <p:nvPr>
            <p:ph idx="1" type="body"/>
          </p:nvPr>
        </p:nvSpPr>
        <p:spPr>
          <a:xfrm>
            <a:off x="661100" y="1438275"/>
            <a:ext cx="3901500" cy="3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Today, most population growth is happening in LDCs - specifically in Asia and Africa.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 sz="1800"/>
              <a:t>NIR in Niger = 3.8%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 sz="1800"/>
              <a:t>NIR in Spain = -0.11%</a:t>
            </a:r>
            <a:endParaRPr sz="1800"/>
          </a:p>
        </p:txBody>
      </p:sp>
      <p:sp>
        <p:nvSpPr>
          <p:cNvPr id="653" name="Google Shape;653;p28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4" name="Google Shape;6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575" y="1522588"/>
            <a:ext cx="4276625" cy="2762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population to grow &amp; decline? </a:t>
            </a:r>
            <a:endParaRPr/>
          </a:p>
        </p:txBody>
      </p:sp>
      <p:sp>
        <p:nvSpPr>
          <p:cNvPr id="660" name="Google Shape;660;p29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61" name="Google Shape;661;p29"/>
          <p:cNvGraphicFramePr/>
          <p:nvPr/>
        </p:nvGraphicFramePr>
        <p:xfrm>
          <a:off x="765375" y="14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{6757846D-F043-4E2C-8F3E-8E17FDD0B460}</a:tableStyleId>
              </a:tblPr>
              <a:tblGrid>
                <a:gridCol w="1183775"/>
                <a:gridCol w="6739525"/>
              </a:tblGrid>
              <a:tr h="354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Growth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- High TFR, CBR or life expectancy // Low CDR &amp; IMR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Agricultural societies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Need children to labor on the farm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Advancements in food production &amp; nutrition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Mechanization of agriculture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Farming efficiency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Advancements in sanitation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Less water contamination &amp; disease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Water treatment plants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Garbage pickup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Economic prosperity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Access to healthcare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Core countries provide better healthcare services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2" marL="1371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■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Prevention &amp; cure of disease.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2" marL="1371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■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Women have access to pre &amp; post-natal care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2" name="Google Shape;662;p29"/>
          <p:cNvSpPr/>
          <p:nvPr/>
        </p:nvSpPr>
        <p:spPr>
          <a:xfrm rot="-5400000">
            <a:off x="152665" y="3228272"/>
            <a:ext cx="2325276" cy="647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Barlow Semi Condensed"/>
              </a:rPr>
              <a:t>ECONOMIC</a:t>
            </a:r>
          </a:p>
        </p:txBody>
      </p:sp>
      <p:pic>
        <p:nvPicPr>
          <p:cNvPr id="663" name="Google Shape;6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498" y="1647622"/>
            <a:ext cx="585600" cy="585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0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population to grow &amp; decline? </a:t>
            </a:r>
            <a:endParaRPr/>
          </a:p>
        </p:txBody>
      </p:sp>
      <p:sp>
        <p:nvSpPr>
          <p:cNvPr id="669" name="Google Shape;669;p3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70" name="Google Shape;670;p30"/>
          <p:cNvGraphicFramePr/>
          <p:nvPr/>
        </p:nvGraphicFramePr>
        <p:xfrm>
          <a:off x="765375" y="14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{6757846D-F043-4E2C-8F3E-8E17FDD0B460}</a:tableStyleId>
              </a:tblPr>
              <a:tblGrid>
                <a:gridCol w="1171800"/>
                <a:gridCol w="6671400"/>
              </a:tblGrid>
              <a:tr h="348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</a:t>
                      </a: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Decline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- High CDR &amp; IMR // Low TFR, CBR, or life expectancy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●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Industrial &amp; post-industrial society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○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Women more involved in the workforce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○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Urbanization -&gt; small living quarters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●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Economic hardship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○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Children are expensive, provision of food &amp; resources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●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Access to healthcare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○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Women have access to contraceptives </a:t>
                      </a:r>
                      <a:endParaRPr sz="1800">
                        <a:highlight>
                          <a:srgbClr val="F9CB9C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1" name="Google Shape;671;p30"/>
          <p:cNvSpPr/>
          <p:nvPr/>
        </p:nvSpPr>
        <p:spPr>
          <a:xfrm rot="-5400000">
            <a:off x="152665" y="3228272"/>
            <a:ext cx="2325276" cy="647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Barlow Semi Condensed"/>
              </a:rPr>
              <a:t>ECONOMIC</a:t>
            </a:r>
          </a:p>
        </p:txBody>
      </p:sp>
      <p:pic>
        <p:nvPicPr>
          <p:cNvPr id="672" name="Google Shape;6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498" y="1647622"/>
            <a:ext cx="585600" cy="585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1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population to grow &amp; decline? </a:t>
            </a:r>
            <a:endParaRPr/>
          </a:p>
        </p:txBody>
      </p:sp>
      <p:sp>
        <p:nvSpPr>
          <p:cNvPr id="678" name="Google Shape;678;p3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79" name="Google Shape;679;p31"/>
          <p:cNvGraphicFramePr/>
          <p:nvPr/>
        </p:nvGraphicFramePr>
        <p:xfrm>
          <a:off x="841575" y="1385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{6757846D-F043-4E2C-8F3E-8E17FDD0B460}</a:tableStyleId>
              </a:tblPr>
              <a:tblGrid>
                <a:gridCol w="1171800"/>
                <a:gridCol w="6671400"/>
              </a:tblGrid>
              <a:tr h="14315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</a:t>
                      </a: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Growth 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- High TFR, CBR or life expectancy // Low CDR &amp; IMR </a:t>
                      </a:r>
                      <a:endParaRPr sz="1800">
                        <a:highlight>
                          <a:srgbClr val="F9CB9C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●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Religion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○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Traditional cultures encourage big families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○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Restriction of contraceptive use and abortion.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○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Earlier marriages = more children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80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Decline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- High CDR &amp; IMR // Low TFR, CBR, or life expectancy</a:t>
                      </a:r>
                      <a:endParaRPr sz="1800">
                        <a:highlight>
                          <a:srgbClr val="F9CB9C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●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Role of Women  - Education &amp; Workforce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○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Cultural expectations have changed in many MDCs -&gt; more women in the workforce/education -&gt; postpone having children -&gt; reduction in child bearing years -&gt; less children.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●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Healthcare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○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How to care for babies -&gt; lower IMR, CDR, higher life expectancy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02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Barlow Semi Condensed"/>
                        <a:buChar char="○"/>
                      </a:pPr>
                      <a:r>
                        <a:rPr lang="en" sz="16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Access &amp; understanding of contraception -&gt; lower TFR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0" name="Google Shape;680;p31"/>
          <p:cNvSpPr/>
          <p:nvPr/>
        </p:nvSpPr>
        <p:spPr>
          <a:xfrm rot="-5400000">
            <a:off x="620604" y="3251786"/>
            <a:ext cx="1603598" cy="647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Barlow Semi Condensed"/>
              </a:rPr>
              <a:t>SOCIAL</a:t>
            </a:r>
          </a:p>
        </p:txBody>
      </p:sp>
      <p:pic>
        <p:nvPicPr>
          <p:cNvPr id="681" name="Google Shape;6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300" y="1663450"/>
            <a:ext cx="653700" cy="653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2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population to grow &amp; decline? </a:t>
            </a:r>
            <a:endParaRPr/>
          </a:p>
        </p:txBody>
      </p:sp>
      <p:sp>
        <p:nvSpPr>
          <p:cNvPr id="687" name="Google Shape;687;p32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88" name="Google Shape;688;p32"/>
          <p:cNvGraphicFramePr/>
          <p:nvPr/>
        </p:nvGraphicFramePr>
        <p:xfrm>
          <a:off x="841575" y="146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{6757846D-F043-4E2C-8F3E-8E17FDD0B460}</a:tableStyleId>
              </a:tblPr>
              <a:tblGrid>
                <a:gridCol w="1171800"/>
                <a:gridCol w="6671400"/>
              </a:tblGrid>
              <a:tr h="14729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Growth 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- High TFR, CBR or life expectancy // Low CDR &amp; IMR </a:t>
                      </a:r>
                      <a:endParaRPr sz="1800">
                        <a:highlight>
                          <a:srgbClr val="F9CB9C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Pro-Natalist Population Policies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Government encourages families through propaganda and incentives to have children.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Shift from war to peace -&gt; Baby Boom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48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Decline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- High CDR &amp; IMR // Low TFR, CBR, or life expectancy</a:t>
                      </a:r>
                      <a:endParaRPr sz="1800">
                        <a:highlight>
                          <a:srgbClr val="F9CB9C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7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Anti-Natalist Population Policies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Government discourages families through propaganda, disincentives, and policies.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●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War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Higher mortality rate, 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increase in migration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238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Barlow Semi Condensed"/>
                        <a:buChar char="○"/>
                      </a:pPr>
                      <a:r>
                        <a:rPr lang="en" sz="15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shortages of supplies</a:t>
                      </a:r>
                      <a:endParaRPr sz="15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9" name="Google Shape;689;p32"/>
          <p:cNvSpPr/>
          <p:nvPr/>
        </p:nvSpPr>
        <p:spPr>
          <a:xfrm rot="-5400000">
            <a:off x="236818" y="3236225"/>
            <a:ext cx="2309370" cy="64705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Barlow Semi Condensed"/>
              </a:rPr>
              <a:t>POLITICAL</a:t>
            </a:r>
          </a:p>
        </p:txBody>
      </p:sp>
      <p:pic>
        <p:nvPicPr>
          <p:cNvPr id="690" name="Google Shape;6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50" y="1666348"/>
            <a:ext cx="653700" cy="653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3"/>
          <p:cNvSpPr txBox="1"/>
          <p:nvPr>
            <p:ph idx="12" type="sldNum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696" name="Google Shape;6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050" y="152400"/>
            <a:ext cx="479646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3"/>
          <p:cNvSpPr txBox="1"/>
          <p:nvPr>
            <p:ph idx="4294967295" type="body"/>
          </p:nvPr>
        </p:nvSpPr>
        <p:spPr>
          <a:xfrm>
            <a:off x="796650" y="247050"/>
            <a:ext cx="3023700" cy="4649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United States “Baby Boom” after World War II (1946-1965) 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End of WWII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Economic Prosperity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Cultural Expectations of Women </a:t>
            </a:r>
            <a:endParaRPr sz="1800"/>
          </a:p>
        </p:txBody>
      </p:sp>
      <p:pic>
        <p:nvPicPr>
          <p:cNvPr id="698" name="Google Shape;6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0900" y="247050"/>
            <a:ext cx="1353100" cy="13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4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causes population to grow &amp; decline? </a:t>
            </a:r>
            <a:endParaRPr/>
          </a:p>
        </p:txBody>
      </p:sp>
      <p:sp>
        <p:nvSpPr>
          <p:cNvPr id="704" name="Google Shape;704;p34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05" name="Google Shape;705;p34"/>
          <p:cNvGraphicFramePr/>
          <p:nvPr/>
        </p:nvGraphicFramePr>
        <p:xfrm>
          <a:off x="841575" y="153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{6757846D-F043-4E2C-8F3E-8E17FDD0B460}</a:tableStyleId>
              </a:tblPr>
              <a:tblGrid>
                <a:gridCol w="1171800"/>
                <a:gridCol w="6671400"/>
              </a:tblGrid>
              <a:tr h="7441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Growth 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- High TFR, CBR or life expectancy // Low CDR &amp; IMR </a:t>
                      </a:r>
                      <a:endParaRPr sz="16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0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highlight>
                            <a:srgbClr val="F9CB9C"/>
                          </a:highlight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Population Decline</a:t>
                      </a: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 - High CDR &amp; IMR // Low TFR, CBR, or life expectancy</a:t>
                      </a:r>
                      <a:endParaRPr sz="1800">
                        <a:highlight>
                          <a:srgbClr val="F9CB9C"/>
                        </a:highlight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55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Barlow Semi Condensed"/>
                        <a:buChar char="●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Natural disasters (earthquakes, flooding, tsunamis, hurricanes)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●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Famine &amp; Drought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●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Spread of disease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Barlow Semi Condensed"/>
                        <a:buChar char="○"/>
                      </a:pPr>
                      <a:r>
                        <a:rPr lang="en" sz="1800"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60% of Europe died in the 1300s due to Bubonic Plague </a:t>
                      </a:r>
                      <a:endParaRPr sz="1800"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6" name="Google Shape;706;p34"/>
          <p:cNvSpPr/>
          <p:nvPr/>
        </p:nvSpPr>
        <p:spPr>
          <a:xfrm rot="-5400000">
            <a:off x="248124" y="3233700"/>
            <a:ext cx="2286726" cy="6501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9900"/>
                </a:solidFill>
                <a:latin typeface="Barlow Semi Condensed"/>
              </a:rPr>
              <a:t>NATURAL</a:t>
            </a:r>
          </a:p>
        </p:txBody>
      </p:sp>
      <p:pic>
        <p:nvPicPr>
          <p:cNvPr id="707" name="Google Shape;7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82453">
            <a:off x="1088901" y="1685316"/>
            <a:ext cx="605193" cy="60519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Essential Learning </a:t>
            </a:r>
            <a:endParaRPr/>
          </a:p>
        </p:txBody>
      </p:sp>
      <p:sp>
        <p:nvSpPr>
          <p:cNvPr id="713" name="Google Shape;713;p35"/>
          <p:cNvSpPr txBox="1"/>
          <p:nvPr>
            <p:ph idx="1" type="body"/>
          </p:nvPr>
        </p:nvSpPr>
        <p:spPr>
          <a:xfrm>
            <a:off x="834450" y="1442050"/>
            <a:ext cx="6981900" cy="23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2.4 Explain factors that account for contemporary and historical trends in population growth &amp; decline.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Demographic factors that determine a population’s growth and decline are fertility, mortality and migration.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Geographers use the rate of natural increase and population doubling time to explain population growth and decline.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Social, cultural, political, and economic factors influence fertility, mortality and migration rates.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4" name="Google Shape;714;p3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5" name="Google Shape;7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562926" y="1565126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