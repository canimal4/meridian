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52e23b0220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252e23b0220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2e23b0220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252e23b0220_2_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52e23b0220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252e23b0220_2_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5aadd876a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5aadd876a4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52e23b0220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252e23b0220_2_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52e23b0220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252e23b0220_2_1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78a596d82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264" name="Google Shape;264;g278a596d829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5aadd876a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25aadd876a4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78a596d82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294" name="Google Shape;294;g278a596d82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5aadd876a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25aadd876a4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78a596d82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324" name="Google Shape;324;g278a596d829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aadd876a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25aadd876a4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78a596d82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355" name="Google Shape;355;g278a596d829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fd855a3b5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2fd855a3b55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fd855a3b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386" name="Google Shape;386;g2fd855a3b5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5aadd876a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25aadd876a4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52e23b0220_2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252e23b0220_2_2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52e23b0220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252e23b0220_2_1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52e23b0220_2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Text Slide </a:t>
            </a:r>
            <a:endParaRPr/>
          </a:p>
          <a:p>
            <a:pPr indent="0" lvl="0" marL="0" rtl="0" algn="l">
              <a:spcBef>
                <a:spcPts val="0"/>
              </a:spcBef>
              <a:spcAft>
                <a:spcPts val="0"/>
              </a:spcAft>
              <a:buNone/>
            </a:pPr>
            <a:r>
              <a:rPr lang="en"/>
              <a:t>🍐 To edit the type of question, go back to the "Ask Students a Question" in the Pear Deck sidebar.</a:t>
            </a:r>
            <a:endParaRPr/>
          </a:p>
          <a:p>
            <a:pPr indent="0" lvl="0" marL="0" rtl="0" algn="l">
              <a:spcBef>
                <a:spcPts val="0"/>
              </a:spcBef>
              <a:spcAft>
                <a:spcPts val="0"/>
              </a:spcAft>
              <a:buNone/>
            </a:pPr>
            <a:r>
              <a:t/>
            </a:r>
            <a:endParaRPr/>
          </a:p>
        </p:txBody>
      </p:sp>
      <p:sp>
        <p:nvSpPr>
          <p:cNvPr id="445" name="Google Shape;445;g252e23b0220_2_1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p:nvPr/>
        </p:nvSpPr>
        <p:spPr>
          <a:xfrm rot="5400000">
            <a:off x="5902888" y="4547496"/>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3"/>
          <p:cNvSpPr/>
          <p:nvPr/>
        </p:nvSpPr>
        <p:spPr>
          <a:xfrm rot="5400000">
            <a:off x="6105538" y="4517521"/>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20" name="Google Shape;20;p3"/>
          <p:cNvSpPr/>
          <p:nvPr/>
        </p:nvSpPr>
        <p:spPr>
          <a:xfrm rot="5400000">
            <a:off x="3871963" y="4517521"/>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21" name="Google Shape;21;p3"/>
          <p:cNvSpPr/>
          <p:nvPr/>
        </p:nvSpPr>
        <p:spPr>
          <a:xfrm rot="5400000">
            <a:off x="1638388" y="4517521"/>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22" name="Google Shape;22;p3"/>
          <p:cNvSpPr/>
          <p:nvPr/>
        </p:nvSpPr>
        <p:spPr>
          <a:xfrm rot="5400000">
            <a:off x="-595187" y="4517521"/>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25" name="Google Shape;25;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4"/>
          <p:cNvSpPr/>
          <p:nvPr/>
        </p:nvSpPr>
        <p:spPr>
          <a:xfrm rot="5400000">
            <a:off x="5902888" y="4547496"/>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29" name="Google Shape;29;p4"/>
          <p:cNvSpPr/>
          <p:nvPr/>
        </p:nvSpPr>
        <p:spPr>
          <a:xfrm rot="5400000">
            <a:off x="5902888" y="730020"/>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pic>
        <p:nvPicPr>
          <p:cNvPr id="31" name="Google Shape;31;p5"/>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32" name="Google Shape;3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6" name="Google Shape;36;p5"/>
          <p:cNvCxnSpPr/>
          <p:nvPr/>
        </p:nvCxnSpPr>
        <p:spPr>
          <a:xfrm>
            <a:off x="514350" y="4786724"/>
            <a:ext cx="8115300" cy="0"/>
          </a:xfrm>
          <a:prstGeom prst="straightConnector1">
            <a:avLst/>
          </a:prstGeom>
          <a:noFill/>
          <a:ln cap="flat" cmpd="sng" w="19050">
            <a:solidFill>
              <a:srgbClr val="000000"/>
            </a:solidFill>
            <a:prstDash val="solid"/>
            <a:round/>
            <a:headEnd len="sm" w="sm" type="none"/>
            <a:tailEnd len="sm" w="sm" type="none"/>
          </a:ln>
        </p:spPr>
      </p:cxnSp>
      <p:cxnSp>
        <p:nvCxnSpPr>
          <p:cNvPr id="37" name="Google Shape;37;p5"/>
          <p:cNvCxnSpPr/>
          <p:nvPr/>
        </p:nvCxnSpPr>
        <p:spPr>
          <a:xfrm>
            <a:off x="514350" y="481013"/>
            <a:ext cx="81153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pic>
        <p:nvPicPr>
          <p:cNvPr id="39" name="Google Shape;39;p6"/>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40" name="Google Shape;4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6"/>
          <p:cNvSpPr/>
          <p:nvPr/>
        </p:nvSpPr>
        <p:spPr>
          <a:xfrm rot="5400000">
            <a:off x="5902888" y="3369592"/>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cxnSp>
        <p:nvCxnSpPr>
          <p:cNvPr id="43" name="Google Shape;43;p6"/>
          <p:cNvCxnSpPr/>
          <p:nvPr/>
        </p:nvCxnSpPr>
        <p:spPr>
          <a:xfrm>
            <a:off x="311708" y="1455831"/>
            <a:ext cx="5213700" cy="8400"/>
          </a:xfrm>
          <a:prstGeom prst="straightConnector1">
            <a:avLst/>
          </a:prstGeom>
          <a:noFill/>
          <a:ln cap="flat" cmpd="sng" w="19050">
            <a:solidFill>
              <a:srgbClr val="000000"/>
            </a:solidFill>
            <a:prstDash val="solid"/>
            <a:round/>
            <a:headEnd len="sm" w="sm" type="none"/>
            <a:tailEnd len="sm" w="sm" type="none"/>
          </a:ln>
        </p:spPr>
      </p:cxnSp>
      <p:cxnSp>
        <p:nvCxnSpPr>
          <p:cNvPr id="44" name="Google Shape;44;p6"/>
          <p:cNvCxnSpPr/>
          <p:nvPr/>
        </p:nvCxnSpPr>
        <p:spPr>
          <a:xfrm>
            <a:off x="311708" y="1078248"/>
            <a:ext cx="5213700" cy="840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pic>
        <p:nvPicPr>
          <p:cNvPr id="46" name="Google Shape;46;p7"/>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47" name="Google Shape;47;p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9" name="Google Shape;49;p7"/>
          <p:cNvCxnSpPr/>
          <p:nvPr/>
        </p:nvCxnSpPr>
        <p:spPr>
          <a:xfrm>
            <a:off x="514350" y="4786724"/>
            <a:ext cx="81153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pic>
        <p:nvPicPr>
          <p:cNvPr id="51" name="Google Shape;51;p8"/>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52" name="Google Shape;52;p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7" name="Google Shape;57;p8"/>
          <p:cNvCxnSpPr/>
          <p:nvPr/>
        </p:nvCxnSpPr>
        <p:spPr>
          <a:xfrm>
            <a:off x="514350" y="4786724"/>
            <a:ext cx="3806100" cy="0"/>
          </a:xfrm>
          <a:prstGeom prst="straightConnector1">
            <a:avLst/>
          </a:prstGeom>
          <a:noFill/>
          <a:ln cap="flat" cmpd="sng" w="19050">
            <a:solidFill>
              <a:srgbClr val="000000"/>
            </a:solidFill>
            <a:prstDash val="solid"/>
            <a:round/>
            <a:headEnd len="sm" w="sm" type="none"/>
            <a:tailEnd len="sm" w="sm" type="none"/>
          </a:ln>
        </p:spPr>
      </p:cxnSp>
      <p:cxnSp>
        <p:nvCxnSpPr>
          <p:cNvPr id="58" name="Google Shape;58;p8"/>
          <p:cNvCxnSpPr/>
          <p:nvPr/>
        </p:nvCxnSpPr>
        <p:spPr>
          <a:xfrm>
            <a:off x="514350" y="481013"/>
            <a:ext cx="3826200"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9" name="Shape 59"/>
        <p:cNvGrpSpPr/>
        <p:nvPr/>
      </p:nvGrpSpPr>
      <p:grpSpPr>
        <a:xfrm>
          <a:off x="0" y="0"/>
          <a:ext cx="0" cy="0"/>
          <a:chOff x="0" y="0"/>
          <a:chExt cx="0" cy="0"/>
        </a:xfrm>
      </p:grpSpPr>
      <p:pic>
        <p:nvPicPr>
          <p:cNvPr id="60" name="Google Shape;60;p9"/>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61" name="Google Shape;61;p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2" name="Google Shape;6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63" name="Google Shape;63;p9"/>
          <p:cNvCxnSpPr/>
          <p:nvPr/>
        </p:nvCxnSpPr>
        <p:spPr>
          <a:xfrm>
            <a:off x="514350" y="4786724"/>
            <a:ext cx="8115300" cy="0"/>
          </a:xfrm>
          <a:prstGeom prst="straightConnector1">
            <a:avLst/>
          </a:prstGeom>
          <a:noFill/>
          <a:ln cap="flat" cmpd="sng" w="19050">
            <a:solidFill>
              <a:srgbClr val="000000"/>
            </a:solidFill>
            <a:prstDash val="solid"/>
            <a:round/>
            <a:headEnd len="sm" w="sm" type="none"/>
            <a:tailEnd len="sm" w="sm" type="none"/>
          </a:ln>
        </p:spPr>
      </p:cxnSp>
      <p:sp>
        <p:nvSpPr>
          <p:cNvPr id="64" name="Google Shape;64;p9"/>
          <p:cNvSpPr/>
          <p:nvPr/>
        </p:nvSpPr>
        <p:spPr>
          <a:xfrm>
            <a:off x="-556141" y="-557767"/>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65" name="Google Shape;65;p9"/>
          <p:cNvSpPr/>
          <p:nvPr/>
        </p:nvSpPr>
        <p:spPr>
          <a:xfrm>
            <a:off x="8473744" y="2714777"/>
            <a:ext cx="3524604" cy="1928920"/>
          </a:xfrm>
          <a:custGeom>
            <a:rect b="b" l="l" r="r" t="t"/>
            <a:pathLst>
              <a:path extrusionOk="0" h="3857839" w="7049207">
                <a:moveTo>
                  <a:pt x="0" y="0"/>
                </a:moveTo>
                <a:lnTo>
                  <a:pt x="7049207" y="0"/>
                </a:lnTo>
                <a:lnTo>
                  <a:pt x="7049207" y="3857838"/>
                </a:lnTo>
                <a:lnTo>
                  <a:pt x="0" y="3857838"/>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pic>
        <p:nvPicPr>
          <p:cNvPr id="67" name="Google Shape;67;p10"/>
          <p:cNvPicPr preferRelativeResize="0"/>
          <p:nvPr/>
        </p:nvPicPr>
        <p:blipFill rotWithShape="1">
          <a:blip r:embed="rId2">
            <a:alphaModFix/>
          </a:blip>
          <a:srcRect b="31261" l="0" r="0" t="31261"/>
          <a:stretch/>
        </p:blipFill>
        <p:spPr>
          <a:xfrm>
            <a:off x="0" y="0"/>
            <a:ext cx="9144001" cy="5143502"/>
          </a:xfrm>
          <a:prstGeom prst="rect">
            <a:avLst/>
          </a:prstGeom>
          <a:noFill/>
          <a:ln>
            <a:noFill/>
          </a:ln>
        </p:spPr>
      </p:pic>
      <p:sp>
        <p:nvSpPr>
          <p:cNvPr id="68" name="Google Shape;6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69" name="Google Shape;69;p10"/>
          <p:cNvCxnSpPr/>
          <p:nvPr/>
        </p:nvCxnSpPr>
        <p:spPr>
          <a:xfrm>
            <a:off x="514350" y="4786724"/>
            <a:ext cx="8115300" cy="0"/>
          </a:xfrm>
          <a:prstGeom prst="straightConnector1">
            <a:avLst/>
          </a:prstGeom>
          <a:noFill/>
          <a:ln cap="flat" cmpd="sng" w="19050">
            <a:solidFill>
              <a:srgbClr val="000000"/>
            </a:solidFill>
            <a:prstDash val="solid"/>
            <a:round/>
            <a:headEnd len="sm" w="sm" type="none"/>
            <a:tailEnd len="sm" w="sm" type="none"/>
          </a:ln>
        </p:spPr>
      </p:cxnSp>
      <p:cxnSp>
        <p:nvCxnSpPr>
          <p:cNvPr id="70" name="Google Shape;70;p10"/>
          <p:cNvCxnSpPr/>
          <p:nvPr/>
        </p:nvCxnSpPr>
        <p:spPr>
          <a:xfrm>
            <a:off x="3230707" y="1715106"/>
            <a:ext cx="0" cy="2614500"/>
          </a:xfrm>
          <a:prstGeom prst="straightConnector1">
            <a:avLst/>
          </a:prstGeom>
          <a:noFill/>
          <a:ln cap="flat" cmpd="sng" w="19050">
            <a:solidFill>
              <a:srgbClr val="000000"/>
            </a:solidFill>
            <a:prstDash val="solid"/>
            <a:round/>
            <a:headEnd len="sm" w="sm" type="none"/>
            <a:tailEnd len="sm" w="sm" type="none"/>
          </a:ln>
        </p:spPr>
      </p:cxnSp>
      <p:cxnSp>
        <p:nvCxnSpPr>
          <p:cNvPr id="71" name="Google Shape;71;p10"/>
          <p:cNvCxnSpPr/>
          <p:nvPr/>
        </p:nvCxnSpPr>
        <p:spPr>
          <a:xfrm>
            <a:off x="6054530" y="1715106"/>
            <a:ext cx="0" cy="2614500"/>
          </a:xfrm>
          <a:prstGeom prst="straightConnector1">
            <a:avLst/>
          </a:prstGeom>
          <a:noFill/>
          <a:ln cap="flat" cmpd="sng" w="19050">
            <a:solidFill>
              <a:srgbClr val="000000"/>
            </a:solidFill>
            <a:prstDash val="solid"/>
            <a:round/>
            <a:headEnd len="sm" w="sm" type="none"/>
            <a:tailEnd len="sm" w="sm" type="none"/>
          </a:ln>
        </p:spPr>
      </p:cxnSp>
      <p:sp>
        <p:nvSpPr>
          <p:cNvPr id="72" name="Google Shape;72;p10"/>
          <p:cNvSpPr/>
          <p:nvPr/>
        </p:nvSpPr>
        <p:spPr>
          <a:xfrm rot="5400000">
            <a:off x="7706897" y="-582854"/>
            <a:ext cx="3524604" cy="1928919"/>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
        <p:nvSpPr>
          <p:cNvPr id="73" name="Google Shape;73;p10"/>
          <p:cNvSpPr/>
          <p:nvPr/>
        </p:nvSpPr>
        <p:spPr>
          <a:xfrm rot="5400000">
            <a:off x="-2092884" y="-582854"/>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2" name="Google Shape;82;p1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13"/>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6" name="Google Shape;86;p13"/>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87" name="Google Shape;87;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8" name="Google Shape;88;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9" name="Google Shape;89;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2" name="Google Shape;92;p14"/>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93" name="Google Shape;93;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4" name="Google Shape;94;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5" name="Google Shape;95;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15"/>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8" name="Google Shape;98;p15"/>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99" name="Google Shape;99;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0" name="Google Shape;100;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1" name="Google Shape;101;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2" name="Shape 102"/>
        <p:cNvGrpSpPr/>
        <p:nvPr/>
      </p:nvGrpSpPr>
      <p:grpSpPr>
        <a:xfrm>
          <a:off x="0" y="0"/>
          <a:ext cx="0" cy="0"/>
          <a:chOff x="0" y="0"/>
          <a:chExt cx="0" cy="0"/>
        </a:xfrm>
      </p:grpSpPr>
      <p:sp>
        <p:nvSpPr>
          <p:cNvPr id="103" name="Google Shape;103;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4" name="Google Shape;104;p16"/>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105" name="Google Shape;105;p16"/>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106" name="Google Shape;106;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7" name="Google Shape;107;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8" name="Google Shape;108;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9" name="Shape 109"/>
        <p:cNvGrpSpPr/>
        <p:nvPr/>
      </p:nvGrpSpPr>
      <p:grpSpPr>
        <a:xfrm>
          <a:off x="0" y="0"/>
          <a:ext cx="0" cy="0"/>
          <a:chOff x="0" y="0"/>
          <a:chExt cx="0" cy="0"/>
        </a:xfrm>
      </p:grpSpPr>
      <p:sp>
        <p:nvSpPr>
          <p:cNvPr id="110" name="Google Shape;110;p1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1" name="Google Shape;111;p17"/>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112" name="Google Shape;112;p17"/>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113" name="Google Shape;113;p17"/>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114" name="Google Shape;114;p17"/>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115" name="Google Shape;11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6" name="Google Shape;11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 name="Shape 118"/>
        <p:cNvGrpSpPr/>
        <p:nvPr/>
      </p:nvGrpSpPr>
      <p:grpSpPr>
        <a:xfrm>
          <a:off x="0" y="0"/>
          <a:ext cx="0" cy="0"/>
          <a:chOff x="0" y="0"/>
          <a:chExt cx="0" cy="0"/>
        </a:xfrm>
      </p:grpSpPr>
      <p:sp>
        <p:nvSpPr>
          <p:cNvPr id="119" name="Google Shape;11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0" name="Google Shape;120;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1" name="Google Shape;121;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2" name="Google Shape;122;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3" name="Shape 123"/>
        <p:cNvGrpSpPr/>
        <p:nvPr/>
      </p:nvGrpSpPr>
      <p:grpSpPr>
        <a:xfrm>
          <a:off x="0" y="0"/>
          <a:ext cx="0" cy="0"/>
          <a:chOff x="0" y="0"/>
          <a:chExt cx="0" cy="0"/>
        </a:xfrm>
      </p:grpSpPr>
      <p:sp>
        <p:nvSpPr>
          <p:cNvPr id="124" name="Google Shape;124;p19"/>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5" name="Google Shape;125;p19"/>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26" name="Google Shape;126;p19"/>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27" name="Google Shape;127;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8" name="Google Shape;128;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9" name="Google Shape;129;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0" name="Shape 130"/>
        <p:cNvGrpSpPr/>
        <p:nvPr/>
      </p:nvGrpSpPr>
      <p:grpSpPr>
        <a:xfrm>
          <a:off x="0" y="0"/>
          <a:ext cx="0" cy="0"/>
          <a:chOff x="0" y="0"/>
          <a:chExt cx="0" cy="0"/>
        </a:xfrm>
      </p:grpSpPr>
      <p:sp>
        <p:nvSpPr>
          <p:cNvPr id="131" name="Google Shape;131;p20"/>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32" name="Google Shape;132;p20"/>
          <p:cNvSpPr/>
          <p:nvPr>
            <p:ph idx="2" type="pic"/>
          </p:nvPr>
        </p:nvSpPr>
        <p:spPr>
          <a:xfrm>
            <a:off x="896144" y="306388"/>
            <a:ext cx="2743200" cy="2057400"/>
          </a:xfrm>
          <a:prstGeom prst="rect">
            <a:avLst/>
          </a:prstGeom>
          <a:noFill/>
          <a:ln>
            <a:noFill/>
          </a:ln>
        </p:spPr>
      </p:sp>
      <p:sp>
        <p:nvSpPr>
          <p:cNvPr id="133" name="Google Shape;133;p20"/>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34" name="Google Shape;134;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35" name="Google Shape;135;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36" name="Google Shape;136;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sp>
        <p:nvSpPr>
          <p:cNvPr id="138" name="Google Shape;138;p2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39" name="Google Shape;139;p21"/>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40" name="Google Shape;140;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41" name="Google Shape;141;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42" name="Google Shape;142;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22"/>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45" name="Google Shape;145;p22"/>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46" name="Google Shape;146;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47" name="Google Shape;147;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48" name="Google Shape;148;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1.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Cormorant Garamond Light"/>
              <a:buNone/>
              <a:defRPr sz="2800">
                <a:solidFill>
                  <a:schemeClr val="dk1"/>
                </a:solidFill>
                <a:latin typeface="Cormorant Garamond Light"/>
                <a:ea typeface="Cormorant Garamond Light"/>
                <a:cs typeface="Cormorant Garamond Light"/>
                <a:sym typeface="Cormorant Garamond Ligh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ormorant Garamond Light"/>
              <a:buChar char="●"/>
              <a:defRPr sz="1800">
                <a:solidFill>
                  <a:schemeClr val="dk2"/>
                </a:solidFill>
                <a:latin typeface="Cormorant Garamond Light"/>
                <a:ea typeface="Cormorant Garamond Light"/>
                <a:cs typeface="Cormorant Garamond Light"/>
                <a:sym typeface="Cormorant Garamond Light"/>
              </a:defRPr>
            </a:lvl1pPr>
            <a:lvl2pPr indent="-317500" lvl="1" marL="914400">
              <a:lnSpc>
                <a:spcPct val="115000"/>
              </a:lnSpc>
              <a:spcBef>
                <a:spcPts val="0"/>
              </a:spcBef>
              <a:spcAft>
                <a:spcPts val="0"/>
              </a:spcAft>
              <a:buClr>
                <a:schemeClr val="dk2"/>
              </a:buClr>
              <a:buSzPts val="1400"/>
              <a:buFont typeface="Cormorant Garamond"/>
              <a:buChar char="○"/>
              <a:defRPr b="1">
                <a:solidFill>
                  <a:schemeClr val="dk2"/>
                </a:solidFill>
                <a:latin typeface="Cormorant Garamond"/>
                <a:ea typeface="Cormorant Garamond"/>
                <a:cs typeface="Cormorant Garamond"/>
                <a:sym typeface="Cormorant Garamond"/>
              </a:defRPr>
            </a:lvl2pPr>
            <a:lvl3pPr indent="-317500" lvl="2" marL="13716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3pPr>
            <a:lvl4pPr indent="-317500" lvl="3" marL="18288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4pPr>
            <a:lvl5pPr indent="-317500" lvl="4" marL="22860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5pPr>
            <a:lvl6pPr indent="-317500" lvl="5" marL="27432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6pPr>
            <a:lvl7pPr indent="-317500" lvl="6" marL="32004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7pPr>
            <a:lvl8pPr indent="-317500" lvl="7" marL="36576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8pPr>
            <a:lvl9pPr indent="-317500" lvl="8" marL="41148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1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76" name="Google Shape;76;p11"/>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77" name="Google Shape;77;p1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78" name="Google Shape;78;p1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79" name="Google Shape;79;p1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8.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8.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8.jp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9.jpg"/><Relationship Id="rId6"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7" Type="http://schemas.openxmlformats.org/officeDocument/2006/relationships/image" Target="../media/image13.png"/><Relationship Id="rId8"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zhhNTk2ZDgyOV8wXzMiLCJjb250ZW50SW5zdGFuY2VJZCI6IjFQdy16NFJZMXhESXc3aGxHWkZsWHZ1aUVPTkNCNWtKWHV6QnRoY0NiempZLzcxMmM1OTJlLTEzZTctNDFhNy1hMTRkLTkzNmI4OTgxMDJiZSJ9pearId=magic-pear-metadata-ident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3.png"/><Relationship Id="rId7"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zhhNTk2ZDgyOV8wXzE5IiwiY29udGVudEluc3RhbmNlSWQiOiIxUHctejRSWTF4REl3N2hsR1pGbFh2dWlFT05DQjVrSlh1ekJ0aGNDYnpqWS9jNmM5OGNjZi1iNjhhLTRjNzQtOGVjYy0xZDZkMDdlMWU2MzUifQ==pearId=magic-pear-metadata-identifier" TargetMode="External"/><Relationship Id="rId8"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3.png"/><Relationship Id="rId7"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zhhNTk2ZDgyOV8wXzM0IiwiY29udGVudEluc3RhbmNlSWQiOiIxUHctejRSWTF4REl3N2hsR1pGbFh2dWlFT05DQjVrSlh1ekJ0aGNDYnpqWS8yN2E2Zjk4NS05ODk1LTQ0YjctODZhNi02MWEwY2QzODA3YzMifQ==pearId=magic-pear-metadata-identifier" TargetMode="External"/><Relationship Id="rId8"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3.png"/><Relationship Id="rId7"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zhhNTk2ZDgyOV8wXzUyIiwiY29udGVudEluc3RhbmNlSWQiOiIxUHctejRSWTF4REl3N2hsR1pGbFh2dWlFT05DQjVrSlh1ekJ0aGNDYnpqWS9hMWExODgxMC1iZjdkLTQ3YjEtYjIzOC1kMzQzMjExNmYxN2YifQ==pearId=magic-pear-metadata-identifier" TargetMode="External"/><Relationship Id="rId8"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3.png"/><Relationship Id="rId7"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zhhNTk2ZDgyOV8wXzUyIiwiY29udGVudEluc3RhbmNlSWQiOiIxUHctejRSWTF4REl3N2hsR1pGbFh2dWlFT05DQjVrSlh1ekJ0aGNDYnpqWS9hMWExODgxMC1iZjdkLTQ3YjEtYjIzOC1kMzQzMjExNmYxN2YifQ==pearId=magic-pear-metadata-identifier" TargetMode="External"/><Relationship Id="rId8"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8.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8.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8.jpg"/><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7" Type="http://schemas.openxmlformats.org/officeDocument/2006/relationships/image" Target="../media/image13.png"/><Relationship Id="rId8" Type="http://schemas.openxmlformats.org/officeDocument/2006/relationships/hyperlink" Target="http://dontchangethislink.peardeckmagic.zone?eyJ0eXBlIjoiZ29vZ2xlLXNsaWRlcy1hZGRvbi1yZXNwb25zZS1mb290ZXIiLCJsYXN0RWRpdGVkQnkiOiIxMDkwMTE0NzEwMDUxMTY3MzAxMDciLCJwcmVzZW50YXRpb25JZCI6IjFQdy16NFJZMXhESXc3aGxHWkZsWHZ1aUVPTkNCNWtKWHV6QnRoY0NiempZIiwiY29udGVudElkIjoiY3VzdG9tLXJlc3BvbnNlLWZyZWVSZXNwb25zZS10ZXh0Iiwic2xpZGVJZCI6ImcyNTJlMjNiMDIyMF8yXzE3NSIsImNvbnRlbnRJbnN0YW5jZUlkIjoiMVB3LXo0UlkxeERJdzdobEdaRmxYdnVpRU9OQ0I1a0pYdXpCdGhjQ2J6alkvNzRkZjg5NjktOWQ0OC00OTRmLWIyOTEtNzkxMmZhMzliYzMyIn0=pearId=magic-pear-metadata-identifi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3"/>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grpSp>
        <p:nvGrpSpPr>
          <p:cNvPr id="154" name="Google Shape;154;p23"/>
          <p:cNvGrpSpPr/>
          <p:nvPr/>
        </p:nvGrpSpPr>
        <p:grpSpPr>
          <a:xfrm>
            <a:off x="2225573" y="1498725"/>
            <a:ext cx="4692855" cy="1847025"/>
            <a:chOff x="-972715" y="-1034625"/>
            <a:chExt cx="10105200" cy="4925400"/>
          </a:xfrm>
        </p:grpSpPr>
        <p:sp>
          <p:nvSpPr>
            <p:cNvPr id="155" name="Google Shape;155;p23"/>
            <p:cNvSpPr txBox="1"/>
            <p:nvPr/>
          </p:nvSpPr>
          <p:spPr>
            <a:xfrm>
              <a:off x="-972715" y="-1034625"/>
              <a:ext cx="10105200" cy="49254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lang="en" sz="5000">
                  <a:latin typeface="Cormorant Garamond Light"/>
                  <a:ea typeface="Cormorant Garamond Light"/>
                  <a:cs typeface="Cormorant Garamond Light"/>
                  <a:sym typeface="Cormorant Garamond Light"/>
                </a:rPr>
                <a:t>APHG FRQ Workshop</a:t>
              </a:r>
              <a:endParaRPr sz="700"/>
            </a:p>
          </p:txBody>
        </p:sp>
        <p:sp>
          <p:nvSpPr>
            <p:cNvPr id="156" name="Google Shape;156;p23"/>
            <p:cNvSpPr txBox="1"/>
            <p:nvPr/>
          </p:nvSpPr>
          <p:spPr>
            <a:xfrm>
              <a:off x="534335" y="1948327"/>
              <a:ext cx="7091100" cy="2874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t/>
              </a:r>
              <a:endParaRPr sz="700"/>
            </a:p>
          </p:txBody>
        </p:sp>
      </p:grpSp>
      <p:cxnSp>
        <p:nvCxnSpPr>
          <p:cNvPr id="157" name="Google Shape;157;p23"/>
          <p:cNvCxnSpPr/>
          <p:nvPr/>
        </p:nvCxnSpPr>
        <p:spPr>
          <a:xfrm>
            <a:off x="514350" y="4619625"/>
            <a:ext cx="8115300" cy="0"/>
          </a:xfrm>
          <a:prstGeom prst="straightConnector1">
            <a:avLst/>
          </a:prstGeom>
          <a:noFill/>
          <a:ln cap="flat" cmpd="sng" w="9525">
            <a:solidFill>
              <a:srgbClr val="000000"/>
            </a:solidFill>
            <a:prstDash val="solid"/>
            <a:round/>
            <a:headEnd len="sm" w="sm" type="none"/>
            <a:tailEnd len="sm" w="sm" type="none"/>
          </a:ln>
        </p:spPr>
      </p:cxnSp>
      <p:cxnSp>
        <p:nvCxnSpPr>
          <p:cNvPr id="158" name="Google Shape;158;p23"/>
          <p:cNvCxnSpPr/>
          <p:nvPr/>
        </p:nvCxnSpPr>
        <p:spPr>
          <a:xfrm>
            <a:off x="514350" y="4229529"/>
            <a:ext cx="8115300" cy="0"/>
          </a:xfrm>
          <a:prstGeom prst="straightConnector1">
            <a:avLst/>
          </a:prstGeom>
          <a:noFill/>
          <a:ln cap="flat" cmpd="sng" w="9525">
            <a:solidFill>
              <a:srgbClr val="000000"/>
            </a:solidFill>
            <a:prstDash val="solid"/>
            <a:round/>
            <a:headEnd len="sm" w="sm" type="none"/>
            <a:tailEnd len="sm" w="sm" type="none"/>
          </a:ln>
        </p:spPr>
      </p:cxnSp>
      <p:cxnSp>
        <p:nvCxnSpPr>
          <p:cNvPr id="159" name="Google Shape;159;p23"/>
          <p:cNvCxnSpPr/>
          <p:nvPr/>
        </p:nvCxnSpPr>
        <p:spPr>
          <a:xfrm>
            <a:off x="514350" y="509588"/>
            <a:ext cx="8115300" cy="0"/>
          </a:xfrm>
          <a:prstGeom prst="straightConnector1">
            <a:avLst/>
          </a:prstGeom>
          <a:noFill/>
          <a:ln cap="flat" cmpd="sng" w="9525">
            <a:solidFill>
              <a:srgbClr val="000000"/>
            </a:solidFill>
            <a:prstDash val="solid"/>
            <a:round/>
            <a:headEnd len="sm" w="sm" type="none"/>
            <a:tailEnd len="sm" w="sm" type="none"/>
          </a:ln>
        </p:spPr>
      </p:cxnSp>
      <p:sp>
        <p:nvSpPr>
          <p:cNvPr id="160" name="Google Shape;160;p23"/>
          <p:cNvSpPr txBox="1"/>
          <p:nvPr/>
        </p:nvSpPr>
        <p:spPr>
          <a:xfrm>
            <a:off x="2968463" y="4334884"/>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000">
                <a:latin typeface="Nunito"/>
                <a:ea typeface="Nunito"/>
                <a:cs typeface="Nunito"/>
                <a:sym typeface="Nunito"/>
              </a:rPr>
              <a:t>Ms. Anderson</a:t>
            </a:r>
            <a:endParaRPr sz="700"/>
          </a:p>
        </p:txBody>
      </p:sp>
      <p:sp>
        <p:nvSpPr>
          <p:cNvPr id="161" name="Google Shape;161;p23"/>
          <p:cNvSpPr/>
          <p:nvPr/>
        </p:nvSpPr>
        <p:spPr>
          <a:xfrm rot="5400000">
            <a:off x="7381698" y="3265069"/>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162" name="Google Shape;162;p23"/>
          <p:cNvSpPr/>
          <p:nvPr/>
        </p:nvSpPr>
        <p:spPr>
          <a:xfrm rot="5400000">
            <a:off x="-1349115" y="219233"/>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4"/>
          <p:cNvPicPr preferRelativeResize="0"/>
          <p:nvPr/>
        </p:nvPicPr>
        <p:blipFill rotWithShape="1">
          <a:blip r:embed="rId3">
            <a:alphaModFix/>
          </a:blip>
          <a:srcRect b="31250" l="0" r="0" t="31250"/>
          <a:stretch/>
        </p:blipFill>
        <p:spPr>
          <a:xfrm>
            <a:off x="0" y="0"/>
            <a:ext cx="9144000" cy="5143500"/>
          </a:xfrm>
          <a:prstGeom prst="rect">
            <a:avLst/>
          </a:prstGeom>
          <a:noFill/>
          <a:ln>
            <a:noFill/>
          </a:ln>
        </p:spPr>
      </p:pic>
      <p:sp>
        <p:nvSpPr>
          <p:cNvPr id="168" name="Google Shape;168;p24"/>
          <p:cNvSpPr txBox="1"/>
          <p:nvPr/>
        </p:nvSpPr>
        <p:spPr>
          <a:xfrm>
            <a:off x="554006" y="2450478"/>
            <a:ext cx="2166000" cy="143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100">
                <a:latin typeface="Nunito"/>
                <a:ea typeface="Nunito"/>
                <a:cs typeface="Nunito"/>
                <a:sym typeface="Nunito"/>
              </a:rPr>
              <a:t>Free</a:t>
            </a:r>
            <a:endParaRPr sz="3100">
              <a:latin typeface="Nunito"/>
              <a:ea typeface="Nunito"/>
              <a:cs typeface="Nunito"/>
              <a:sym typeface="Nunito"/>
            </a:endParaRPr>
          </a:p>
          <a:p>
            <a:pPr indent="0" lvl="0" marL="0" marR="0" rtl="0" algn="ctr">
              <a:lnSpc>
                <a:spcPct val="100000"/>
              </a:lnSpc>
              <a:spcBef>
                <a:spcPts val="0"/>
              </a:spcBef>
              <a:spcAft>
                <a:spcPts val="0"/>
              </a:spcAft>
              <a:buNone/>
            </a:pPr>
            <a:r>
              <a:rPr lang="en" sz="3100">
                <a:latin typeface="Nunito"/>
                <a:ea typeface="Nunito"/>
                <a:cs typeface="Nunito"/>
                <a:sym typeface="Nunito"/>
              </a:rPr>
              <a:t>Response</a:t>
            </a:r>
            <a:endParaRPr sz="3100">
              <a:latin typeface="Nunito"/>
              <a:ea typeface="Nunito"/>
              <a:cs typeface="Nunito"/>
              <a:sym typeface="Nunito"/>
            </a:endParaRPr>
          </a:p>
          <a:p>
            <a:pPr indent="0" lvl="0" marL="0" marR="0" rtl="0" algn="ctr">
              <a:lnSpc>
                <a:spcPct val="100000"/>
              </a:lnSpc>
              <a:spcBef>
                <a:spcPts val="0"/>
              </a:spcBef>
              <a:spcAft>
                <a:spcPts val="0"/>
              </a:spcAft>
              <a:buNone/>
            </a:pPr>
            <a:r>
              <a:rPr lang="en" sz="3100">
                <a:latin typeface="Nunito"/>
                <a:ea typeface="Nunito"/>
                <a:cs typeface="Nunito"/>
                <a:sym typeface="Nunito"/>
              </a:rPr>
              <a:t>Question</a:t>
            </a:r>
            <a:endParaRPr sz="3100">
              <a:latin typeface="Nunito"/>
              <a:ea typeface="Nunito"/>
              <a:cs typeface="Nunito"/>
              <a:sym typeface="Nunito"/>
            </a:endParaRPr>
          </a:p>
        </p:txBody>
      </p:sp>
      <p:sp>
        <p:nvSpPr>
          <p:cNvPr id="169" name="Google Shape;169;p24"/>
          <p:cNvSpPr txBox="1"/>
          <p:nvPr/>
        </p:nvSpPr>
        <p:spPr>
          <a:xfrm>
            <a:off x="480323" y="1852783"/>
            <a:ext cx="2313600" cy="292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 sz="1900">
                <a:latin typeface="Cormorant Garamond"/>
                <a:ea typeface="Cormorant Garamond"/>
                <a:cs typeface="Cormorant Garamond"/>
                <a:sym typeface="Cormorant Garamond"/>
              </a:rPr>
              <a:t>What does it stand for?</a:t>
            </a:r>
            <a:endParaRPr sz="1100"/>
          </a:p>
        </p:txBody>
      </p:sp>
      <p:sp>
        <p:nvSpPr>
          <p:cNvPr id="170" name="Google Shape;170;p24"/>
          <p:cNvSpPr txBox="1"/>
          <p:nvPr/>
        </p:nvSpPr>
        <p:spPr>
          <a:xfrm>
            <a:off x="3451863" y="2334638"/>
            <a:ext cx="2517000" cy="190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100">
                <a:latin typeface="Nunito"/>
                <a:ea typeface="Nunito"/>
                <a:cs typeface="Nunito"/>
                <a:sym typeface="Nunito"/>
              </a:rPr>
              <a:t>There will be 3 FRQ Questions on your exam</a:t>
            </a:r>
            <a:endParaRPr sz="3100"/>
          </a:p>
        </p:txBody>
      </p:sp>
      <p:sp>
        <p:nvSpPr>
          <p:cNvPr id="171" name="Google Shape;171;p24"/>
          <p:cNvSpPr txBox="1"/>
          <p:nvPr/>
        </p:nvSpPr>
        <p:spPr>
          <a:xfrm>
            <a:off x="3342585" y="1852783"/>
            <a:ext cx="25707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 sz="1800">
                <a:latin typeface="Cormorant Garamond"/>
                <a:ea typeface="Cormorant Garamond"/>
                <a:cs typeface="Cormorant Garamond"/>
                <a:sym typeface="Cormorant Garamond"/>
              </a:rPr>
              <a:t>How many do I do?</a:t>
            </a:r>
            <a:endParaRPr sz="1000"/>
          </a:p>
        </p:txBody>
      </p:sp>
      <p:sp>
        <p:nvSpPr>
          <p:cNvPr id="172" name="Google Shape;172;p24"/>
          <p:cNvSpPr txBox="1"/>
          <p:nvPr/>
        </p:nvSpPr>
        <p:spPr>
          <a:xfrm>
            <a:off x="6588097" y="2450475"/>
            <a:ext cx="2439900" cy="15393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2500">
                <a:latin typeface="Nunito"/>
                <a:ea typeface="Nunito"/>
                <a:cs typeface="Nunito"/>
                <a:sym typeface="Nunito"/>
              </a:rPr>
              <a:t>75 minutes total, suggested 25 minutes per question</a:t>
            </a:r>
            <a:endParaRPr sz="2500"/>
          </a:p>
        </p:txBody>
      </p:sp>
      <p:sp>
        <p:nvSpPr>
          <p:cNvPr id="173" name="Google Shape;173;p24"/>
          <p:cNvSpPr txBox="1"/>
          <p:nvPr/>
        </p:nvSpPr>
        <p:spPr>
          <a:xfrm>
            <a:off x="6461925" y="1852775"/>
            <a:ext cx="24399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 sz="1800">
                <a:latin typeface="Cormorant Garamond"/>
                <a:ea typeface="Cormorant Garamond"/>
                <a:cs typeface="Cormorant Garamond"/>
                <a:sym typeface="Cormorant Garamond"/>
              </a:rPr>
              <a:t>How much time do I have?</a:t>
            </a:r>
            <a:endParaRPr sz="1000"/>
          </a:p>
        </p:txBody>
      </p:sp>
      <p:sp>
        <p:nvSpPr>
          <p:cNvPr id="174" name="Google Shape;174;p24"/>
          <p:cNvSpPr txBox="1"/>
          <p:nvPr/>
        </p:nvSpPr>
        <p:spPr>
          <a:xfrm>
            <a:off x="514350" y="585643"/>
            <a:ext cx="8261400" cy="7695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None/>
            </a:pPr>
            <a:r>
              <a:rPr lang="en" sz="5000">
                <a:latin typeface="Cormorant Garamond Light"/>
                <a:ea typeface="Cormorant Garamond Light"/>
                <a:cs typeface="Cormorant Garamond Light"/>
                <a:sym typeface="Cormorant Garamond Light"/>
              </a:rPr>
              <a:t>What is the FRQ</a:t>
            </a:r>
            <a:endParaRPr sz="700"/>
          </a:p>
        </p:txBody>
      </p:sp>
      <p:cxnSp>
        <p:nvCxnSpPr>
          <p:cNvPr id="175" name="Google Shape;175;p24"/>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176" name="Google Shape;176;p24"/>
          <p:cNvCxnSpPr/>
          <p:nvPr/>
        </p:nvCxnSpPr>
        <p:spPr>
          <a:xfrm>
            <a:off x="514350" y="1690543"/>
            <a:ext cx="8115300" cy="0"/>
          </a:xfrm>
          <a:prstGeom prst="straightConnector1">
            <a:avLst/>
          </a:prstGeom>
          <a:noFill/>
          <a:ln cap="flat" cmpd="sng" w="9525">
            <a:solidFill>
              <a:srgbClr val="000000"/>
            </a:solidFill>
            <a:prstDash val="solid"/>
            <a:round/>
            <a:headEnd len="sm" w="sm" type="none"/>
            <a:tailEnd len="sm" w="sm" type="none"/>
          </a:ln>
        </p:spPr>
      </p:cxnSp>
      <p:cxnSp>
        <p:nvCxnSpPr>
          <p:cNvPr id="177" name="Google Shape;177;p24"/>
          <p:cNvCxnSpPr/>
          <p:nvPr/>
        </p:nvCxnSpPr>
        <p:spPr>
          <a:xfrm>
            <a:off x="514350" y="2269504"/>
            <a:ext cx="8115300" cy="0"/>
          </a:xfrm>
          <a:prstGeom prst="straightConnector1">
            <a:avLst/>
          </a:prstGeom>
          <a:noFill/>
          <a:ln cap="flat" cmpd="sng" w="9525">
            <a:solidFill>
              <a:srgbClr val="000000"/>
            </a:solidFill>
            <a:prstDash val="solid"/>
            <a:round/>
            <a:headEnd len="sm" w="sm" type="none"/>
            <a:tailEnd len="sm" w="sm" type="none"/>
          </a:ln>
        </p:spPr>
      </p:cxnSp>
      <p:sp>
        <p:nvSpPr>
          <p:cNvPr id="178" name="Google Shape;178;p24"/>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a:t>
            </a:r>
            <a:r>
              <a:rPr lang="en" sz="1000">
                <a:latin typeface="Nunito"/>
                <a:ea typeface="Nunito"/>
                <a:cs typeface="Nunito"/>
                <a:sym typeface="Nunito"/>
              </a:rPr>
              <a:t>4</a:t>
            </a:r>
            <a:endParaRPr sz="700"/>
          </a:p>
        </p:txBody>
      </p:sp>
      <p:sp>
        <p:nvSpPr>
          <p:cNvPr id="179" name="Google Shape;179;p24"/>
          <p:cNvSpPr/>
          <p:nvPr/>
        </p:nvSpPr>
        <p:spPr>
          <a:xfrm rot="5400000">
            <a:off x="6417238" y="4881646"/>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5"/>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sp>
        <p:nvSpPr>
          <p:cNvPr id="185" name="Google Shape;185;p25"/>
          <p:cNvSpPr txBox="1"/>
          <p:nvPr/>
        </p:nvSpPr>
        <p:spPr>
          <a:xfrm>
            <a:off x="611860" y="951024"/>
            <a:ext cx="2837400" cy="31155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 sz="4400">
                <a:latin typeface="Cormorant Garamond Light"/>
                <a:ea typeface="Cormorant Garamond Light"/>
                <a:cs typeface="Cormorant Garamond Light"/>
                <a:sym typeface="Cormorant Garamond Light"/>
              </a:rPr>
              <a:t>Are there multiple parts per question?</a:t>
            </a:r>
            <a:endParaRPr sz="100"/>
          </a:p>
        </p:txBody>
      </p:sp>
      <p:sp>
        <p:nvSpPr>
          <p:cNvPr id="186" name="Google Shape;186;p25"/>
          <p:cNvSpPr txBox="1"/>
          <p:nvPr/>
        </p:nvSpPr>
        <p:spPr>
          <a:xfrm>
            <a:off x="5703799" y="152125"/>
            <a:ext cx="873900" cy="631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4100">
                <a:latin typeface="Cormorant Garamond"/>
                <a:ea typeface="Cormorant Garamond"/>
                <a:cs typeface="Cormorant Garamond"/>
                <a:sym typeface="Cormorant Garamond"/>
              </a:rPr>
              <a:t>Yes!</a:t>
            </a:r>
            <a:endParaRPr sz="4100"/>
          </a:p>
        </p:txBody>
      </p:sp>
      <p:sp>
        <p:nvSpPr>
          <p:cNvPr id="187" name="Google Shape;187;p25"/>
          <p:cNvSpPr txBox="1"/>
          <p:nvPr/>
        </p:nvSpPr>
        <p:spPr>
          <a:xfrm>
            <a:off x="3692741" y="1128713"/>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A.</a:t>
            </a:r>
            <a:endParaRPr sz="700"/>
          </a:p>
        </p:txBody>
      </p:sp>
      <p:sp>
        <p:nvSpPr>
          <p:cNvPr id="188" name="Google Shape;188;p25"/>
          <p:cNvSpPr txBox="1"/>
          <p:nvPr/>
        </p:nvSpPr>
        <p:spPr>
          <a:xfrm>
            <a:off x="3692741" y="1772480"/>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B.</a:t>
            </a:r>
            <a:r>
              <a:rPr b="1" i="0" lang="en" sz="1500" u="none" cap="none" strike="noStrike">
                <a:solidFill>
                  <a:srgbClr val="000000"/>
                </a:solidFill>
                <a:latin typeface="Cormorant Garamond"/>
                <a:ea typeface="Cormorant Garamond"/>
                <a:cs typeface="Cormorant Garamond"/>
                <a:sym typeface="Cormorant Garamond"/>
              </a:rPr>
              <a:t>.</a:t>
            </a:r>
            <a:endParaRPr sz="700"/>
          </a:p>
        </p:txBody>
      </p:sp>
      <p:sp>
        <p:nvSpPr>
          <p:cNvPr id="189" name="Google Shape;189;p25"/>
          <p:cNvSpPr txBox="1"/>
          <p:nvPr/>
        </p:nvSpPr>
        <p:spPr>
          <a:xfrm>
            <a:off x="4206274" y="17764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May ask you to do something simple to start</a:t>
            </a:r>
            <a:endParaRPr sz="700"/>
          </a:p>
        </p:txBody>
      </p:sp>
      <p:sp>
        <p:nvSpPr>
          <p:cNvPr id="190" name="Google Shape;190;p25"/>
          <p:cNvSpPr txBox="1"/>
          <p:nvPr/>
        </p:nvSpPr>
        <p:spPr>
          <a:xfrm>
            <a:off x="4206274" y="24241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But will get progressively more demanding</a:t>
            </a:r>
            <a:endParaRPr sz="700"/>
          </a:p>
        </p:txBody>
      </p:sp>
      <p:sp>
        <p:nvSpPr>
          <p:cNvPr id="191" name="Google Shape;191;p25"/>
          <p:cNvSpPr txBox="1"/>
          <p:nvPr/>
        </p:nvSpPr>
        <p:spPr>
          <a:xfrm>
            <a:off x="4206274" y="30718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As you go, the questions will ask you to analyze</a:t>
            </a:r>
            <a:endParaRPr sz="700"/>
          </a:p>
        </p:txBody>
      </p:sp>
      <p:sp>
        <p:nvSpPr>
          <p:cNvPr id="192" name="Google Shape;192;p25"/>
          <p:cNvSpPr txBox="1"/>
          <p:nvPr/>
        </p:nvSpPr>
        <p:spPr>
          <a:xfrm>
            <a:off x="4206274" y="37195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Draw conclusions about multiple sources of data</a:t>
            </a:r>
            <a:endParaRPr sz="700"/>
          </a:p>
        </p:txBody>
      </p:sp>
      <p:cxnSp>
        <p:nvCxnSpPr>
          <p:cNvPr id="193" name="Google Shape;193;p25"/>
          <p:cNvCxnSpPr/>
          <p:nvPr/>
        </p:nvCxnSpPr>
        <p:spPr>
          <a:xfrm>
            <a:off x="3692741" y="4157419"/>
            <a:ext cx="4895998" cy="0"/>
          </a:xfrm>
          <a:prstGeom prst="straightConnector1">
            <a:avLst/>
          </a:prstGeom>
          <a:noFill/>
          <a:ln cap="flat" cmpd="sng" w="9525">
            <a:solidFill>
              <a:srgbClr val="000000"/>
            </a:solidFill>
            <a:prstDash val="solid"/>
            <a:round/>
            <a:headEnd len="sm" w="sm" type="none"/>
            <a:tailEnd len="sm" w="sm" type="none"/>
          </a:ln>
        </p:spPr>
      </p:cxnSp>
      <p:cxnSp>
        <p:nvCxnSpPr>
          <p:cNvPr id="194" name="Google Shape;194;p25"/>
          <p:cNvCxnSpPr/>
          <p:nvPr/>
        </p:nvCxnSpPr>
        <p:spPr>
          <a:xfrm>
            <a:off x="3692741" y="3518998"/>
            <a:ext cx="4895998" cy="0"/>
          </a:xfrm>
          <a:prstGeom prst="straightConnector1">
            <a:avLst/>
          </a:prstGeom>
          <a:noFill/>
          <a:ln cap="flat" cmpd="sng" w="9525">
            <a:solidFill>
              <a:srgbClr val="000000"/>
            </a:solidFill>
            <a:prstDash val="solid"/>
            <a:round/>
            <a:headEnd len="sm" w="sm" type="none"/>
            <a:tailEnd len="sm" w="sm" type="none"/>
          </a:ln>
        </p:spPr>
      </p:cxnSp>
      <p:sp>
        <p:nvSpPr>
          <p:cNvPr id="195" name="Google Shape;195;p25"/>
          <p:cNvSpPr/>
          <p:nvPr/>
        </p:nvSpPr>
        <p:spPr>
          <a:xfrm rot="5400000">
            <a:off x="-1351025" y="5043096"/>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196" name="Google Shape;196;p25"/>
          <p:cNvSpPr txBox="1"/>
          <p:nvPr/>
        </p:nvSpPr>
        <p:spPr>
          <a:xfrm>
            <a:off x="3692741" y="2416248"/>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C.</a:t>
            </a:r>
            <a:endParaRPr sz="700"/>
          </a:p>
        </p:txBody>
      </p:sp>
      <p:sp>
        <p:nvSpPr>
          <p:cNvPr id="197" name="Google Shape;197;p25"/>
          <p:cNvSpPr txBox="1"/>
          <p:nvPr/>
        </p:nvSpPr>
        <p:spPr>
          <a:xfrm>
            <a:off x="3692741" y="3060015"/>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D.</a:t>
            </a:r>
            <a:endParaRPr sz="700"/>
          </a:p>
        </p:txBody>
      </p:sp>
      <p:sp>
        <p:nvSpPr>
          <p:cNvPr id="198" name="Google Shape;198;p25"/>
          <p:cNvSpPr txBox="1"/>
          <p:nvPr/>
        </p:nvSpPr>
        <p:spPr>
          <a:xfrm>
            <a:off x="3692741" y="3703782"/>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E.</a:t>
            </a:r>
            <a:endParaRPr sz="700"/>
          </a:p>
        </p:txBody>
      </p:sp>
      <p:cxnSp>
        <p:nvCxnSpPr>
          <p:cNvPr id="199" name="Google Shape;199;p25"/>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00" name="Google Shape;200;p25"/>
          <p:cNvCxnSpPr/>
          <p:nvPr/>
        </p:nvCxnSpPr>
        <p:spPr>
          <a:xfrm>
            <a:off x="3692741" y="2880576"/>
            <a:ext cx="4895998" cy="0"/>
          </a:xfrm>
          <a:prstGeom prst="straightConnector1">
            <a:avLst/>
          </a:prstGeom>
          <a:noFill/>
          <a:ln cap="flat" cmpd="sng" w="9525">
            <a:solidFill>
              <a:srgbClr val="000000"/>
            </a:solidFill>
            <a:prstDash val="solid"/>
            <a:round/>
            <a:headEnd len="sm" w="sm" type="none"/>
            <a:tailEnd len="sm" w="sm" type="none"/>
          </a:ln>
        </p:spPr>
      </p:cxnSp>
      <p:cxnSp>
        <p:nvCxnSpPr>
          <p:cNvPr id="201" name="Google Shape;201;p25"/>
          <p:cNvCxnSpPr/>
          <p:nvPr/>
        </p:nvCxnSpPr>
        <p:spPr>
          <a:xfrm>
            <a:off x="3692741" y="2242155"/>
            <a:ext cx="4895998" cy="0"/>
          </a:xfrm>
          <a:prstGeom prst="straightConnector1">
            <a:avLst/>
          </a:prstGeom>
          <a:noFill/>
          <a:ln cap="flat" cmpd="sng" w="9525">
            <a:solidFill>
              <a:srgbClr val="000000"/>
            </a:solidFill>
            <a:prstDash val="solid"/>
            <a:round/>
            <a:headEnd len="sm" w="sm" type="none"/>
            <a:tailEnd len="sm" w="sm" type="none"/>
          </a:ln>
        </p:spPr>
      </p:cxnSp>
      <p:cxnSp>
        <p:nvCxnSpPr>
          <p:cNvPr id="202" name="Google Shape;202;p25"/>
          <p:cNvCxnSpPr/>
          <p:nvPr/>
        </p:nvCxnSpPr>
        <p:spPr>
          <a:xfrm>
            <a:off x="3692741" y="1603733"/>
            <a:ext cx="4895998" cy="0"/>
          </a:xfrm>
          <a:prstGeom prst="straightConnector1">
            <a:avLst/>
          </a:prstGeom>
          <a:noFill/>
          <a:ln cap="flat" cmpd="sng" w="9525">
            <a:solidFill>
              <a:srgbClr val="000000"/>
            </a:solidFill>
            <a:prstDash val="solid"/>
            <a:round/>
            <a:headEnd len="sm" w="sm" type="none"/>
            <a:tailEnd len="sm" w="sm" type="none"/>
          </a:ln>
        </p:spPr>
      </p:cxnSp>
      <p:cxnSp>
        <p:nvCxnSpPr>
          <p:cNvPr id="203" name="Google Shape;203;p25"/>
          <p:cNvCxnSpPr/>
          <p:nvPr/>
        </p:nvCxnSpPr>
        <p:spPr>
          <a:xfrm>
            <a:off x="3692741" y="965312"/>
            <a:ext cx="4895998" cy="0"/>
          </a:xfrm>
          <a:prstGeom prst="straightConnector1">
            <a:avLst/>
          </a:prstGeom>
          <a:noFill/>
          <a:ln cap="flat" cmpd="sng" w="9525">
            <a:solidFill>
              <a:srgbClr val="000000"/>
            </a:solidFill>
            <a:prstDash val="solid"/>
            <a:round/>
            <a:headEnd len="sm" w="sm" type="none"/>
            <a:tailEnd len="sm" w="sm" type="none"/>
          </a:ln>
        </p:spPr>
      </p:cxnSp>
      <p:sp>
        <p:nvSpPr>
          <p:cNvPr id="204" name="Google Shape;204;p25"/>
          <p:cNvSpPr txBox="1"/>
          <p:nvPr/>
        </p:nvSpPr>
        <p:spPr>
          <a:xfrm>
            <a:off x="3692741" y="4245258"/>
            <a:ext cx="3828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F.</a:t>
            </a:r>
            <a:endParaRPr sz="700"/>
          </a:p>
        </p:txBody>
      </p:sp>
      <p:sp>
        <p:nvSpPr>
          <p:cNvPr id="205" name="Google Shape;205;p25"/>
          <p:cNvSpPr txBox="1"/>
          <p:nvPr/>
        </p:nvSpPr>
        <p:spPr>
          <a:xfrm>
            <a:off x="4206274" y="11690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Question demands will start easy</a:t>
            </a:r>
            <a:endParaRPr sz="700"/>
          </a:p>
        </p:txBody>
      </p:sp>
      <p:sp>
        <p:nvSpPr>
          <p:cNvPr id="206" name="Google Shape;206;p25"/>
          <p:cNvSpPr txBox="1"/>
          <p:nvPr/>
        </p:nvSpPr>
        <p:spPr>
          <a:xfrm>
            <a:off x="4206274" y="4253113"/>
            <a:ext cx="4578300" cy="23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500">
                <a:latin typeface="Cormorant Garamond"/>
                <a:ea typeface="Cormorant Garamond"/>
                <a:cs typeface="Cormorant Garamond"/>
                <a:sym typeface="Cormorant Garamond"/>
              </a:rPr>
              <a:t>And recall information you have learned.</a:t>
            </a:r>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212" name="Google Shape;212;p26"/>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13" name="Google Shape;213;p26"/>
          <p:cNvCxnSpPr/>
          <p:nvPr/>
        </p:nvCxnSpPr>
        <p:spPr>
          <a:xfrm>
            <a:off x="514350" y="1707325"/>
            <a:ext cx="8115300" cy="0"/>
          </a:xfrm>
          <a:prstGeom prst="straightConnector1">
            <a:avLst/>
          </a:prstGeom>
          <a:noFill/>
          <a:ln cap="flat" cmpd="sng" w="9525">
            <a:solidFill>
              <a:srgbClr val="000000"/>
            </a:solidFill>
            <a:prstDash val="solid"/>
            <a:round/>
            <a:headEnd len="sm" w="sm" type="none"/>
            <a:tailEnd len="sm" w="sm" type="none"/>
          </a:ln>
        </p:spPr>
      </p:cxnSp>
      <p:sp>
        <p:nvSpPr>
          <p:cNvPr id="214" name="Google Shape;214;p26"/>
          <p:cNvSpPr/>
          <p:nvPr/>
        </p:nvSpPr>
        <p:spPr>
          <a:xfrm>
            <a:off x="4908537" y="2282565"/>
            <a:ext cx="3524603" cy="1928919"/>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215" name="Google Shape;215;p26"/>
          <p:cNvSpPr txBox="1"/>
          <p:nvPr/>
        </p:nvSpPr>
        <p:spPr>
          <a:xfrm>
            <a:off x="514350" y="618275"/>
            <a:ext cx="5945700" cy="723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4700">
                <a:latin typeface="Cormorant Garamond Light"/>
                <a:ea typeface="Cormorant Garamond Light"/>
                <a:cs typeface="Cormorant Garamond Light"/>
                <a:sym typeface="Cormorant Garamond Light"/>
              </a:rPr>
              <a:t>What is Stimuli?</a:t>
            </a:r>
            <a:endParaRPr sz="400"/>
          </a:p>
        </p:txBody>
      </p:sp>
      <p:grpSp>
        <p:nvGrpSpPr>
          <p:cNvPr id="216" name="Google Shape;216;p26"/>
          <p:cNvGrpSpPr/>
          <p:nvPr/>
        </p:nvGrpSpPr>
        <p:grpSpPr>
          <a:xfrm>
            <a:off x="484948" y="1955600"/>
            <a:ext cx="4360163" cy="2714400"/>
            <a:chOff x="27" y="-1077439"/>
            <a:chExt cx="11627100" cy="7238400"/>
          </a:xfrm>
        </p:grpSpPr>
        <p:sp>
          <p:nvSpPr>
            <p:cNvPr id="217" name="Google Shape;217;p26"/>
            <p:cNvSpPr txBox="1"/>
            <p:nvPr/>
          </p:nvSpPr>
          <p:spPr>
            <a:xfrm>
              <a:off x="27" y="-1077439"/>
              <a:ext cx="11627100" cy="2265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 sz="2300">
                  <a:latin typeface="Cormorant Garamond"/>
                  <a:ea typeface="Cormorant Garamond"/>
                  <a:cs typeface="Cormorant Garamond"/>
                  <a:sym typeface="Cormorant Garamond"/>
                </a:rPr>
                <a:t>FRQ’s can include no stimuli, 1 stimuli, or 2 stimuli.</a:t>
              </a:r>
              <a:endParaRPr sz="1500"/>
            </a:p>
          </p:txBody>
        </p:sp>
        <p:sp>
          <p:nvSpPr>
            <p:cNvPr id="218" name="Google Shape;218;p26"/>
            <p:cNvSpPr txBox="1"/>
            <p:nvPr/>
          </p:nvSpPr>
          <p:spPr>
            <a:xfrm>
              <a:off x="33" y="1440761"/>
              <a:ext cx="9654000" cy="4720200"/>
            </a:xfrm>
            <a:prstGeom prst="rect">
              <a:avLst/>
            </a:prstGeom>
            <a:noFill/>
            <a:ln>
              <a:noFill/>
            </a:ln>
          </p:spPr>
          <p:txBody>
            <a:bodyPr anchorCtr="0" anchor="t" bIns="0" lIns="0" spcFirstLastPara="1" rIns="0" wrap="square" tIns="0">
              <a:spAutoFit/>
            </a:bodyPr>
            <a:lstStyle/>
            <a:p>
              <a:pPr indent="-361950" lvl="0" marL="457200" marR="0" rtl="0" algn="l">
                <a:lnSpc>
                  <a:spcPct val="100000"/>
                </a:lnSpc>
                <a:spcBef>
                  <a:spcPts val="0"/>
                </a:spcBef>
                <a:spcAft>
                  <a:spcPts val="0"/>
                </a:spcAft>
                <a:buSzPts val="2100"/>
                <a:buChar char="●"/>
              </a:pPr>
              <a:r>
                <a:rPr lang="en" sz="2300">
                  <a:latin typeface="Nunito"/>
                  <a:ea typeface="Nunito"/>
                  <a:cs typeface="Nunito"/>
                  <a:sym typeface="Nunito"/>
                </a:rPr>
                <a:t>Maps</a:t>
              </a:r>
              <a:endParaRPr sz="2300">
                <a:latin typeface="Nunito"/>
                <a:ea typeface="Nunito"/>
                <a:cs typeface="Nunito"/>
                <a:sym typeface="Nunito"/>
              </a:endParaRPr>
            </a:p>
            <a:p>
              <a:pPr indent="-374650" lvl="0" marL="457200" marR="0" rtl="0" algn="l">
                <a:lnSpc>
                  <a:spcPct val="100000"/>
                </a:lnSpc>
                <a:spcBef>
                  <a:spcPts val="0"/>
                </a:spcBef>
                <a:spcAft>
                  <a:spcPts val="0"/>
                </a:spcAft>
                <a:buSzPts val="2300"/>
                <a:buFont typeface="Nunito"/>
                <a:buChar char="●"/>
              </a:pPr>
              <a:r>
                <a:rPr lang="en" sz="2300">
                  <a:latin typeface="Nunito"/>
                  <a:ea typeface="Nunito"/>
                  <a:cs typeface="Nunito"/>
                  <a:sym typeface="Nunito"/>
                </a:rPr>
                <a:t>Graphs</a:t>
              </a:r>
              <a:endParaRPr sz="2300">
                <a:latin typeface="Nunito"/>
                <a:ea typeface="Nunito"/>
                <a:cs typeface="Nunito"/>
                <a:sym typeface="Nunito"/>
              </a:endParaRPr>
            </a:p>
            <a:p>
              <a:pPr indent="-374650" lvl="0" marL="457200" marR="0" rtl="0" algn="l">
                <a:lnSpc>
                  <a:spcPct val="100000"/>
                </a:lnSpc>
                <a:spcBef>
                  <a:spcPts val="0"/>
                </a:spcBef>
                <a:spcAft>
                  <a:spcPts val="0"/>
                </a:spcAft>
                <a:buSzPts val="2300"/>
                <a:buFont typeface="Nunito"/>
                <a:buChar char="●"/>
              </a:pPr>
              <a:r>
                <a:rPr lang="en" sz="2300">
                  <a:latin typeface="Nunito"/>
                  <a:ea typeface="Nunito"/>
                  <a:cs typeface="Nunito"/>
                  <a:sym typeface="Nunito"/>
                </a:rPr>
                <a:t>Charts</a:t>
              </a:r>
              <a:endParaRPr sz="2300">
                <a:latin typeface="Nunito"/>
                <a:ea typeface="Nunito"/>
                <a:cs typeface="Nunito"/>
                <a:sym typeface="Nunito"/>
              </a:endParaRPr>
            </a:p>
            <a:p>
              <a:pPr indent="-374650" lvl="0" marL="457200" marR="0" rtl="0" algn="l">
                <a:lnSpc>
                  <a:spcPct val="100000"/>
                </a:lnSpc>
                <a:spcBef>
                  <a:spcPts val="0"/>
                </a:spcBef>
                <a:spcAft>
                  <a:spcPts val="0"/>
                </a:spcAft>
                <a:buSzPts val="2300"/>
                <a:buFont typeface="Nunito"/>
                <a:buChar char="●"/>
              </a:pPr>
              <a:r>
                <a:rPr lang="en" sz="2300">
                  <a:latin typeface="Nunito"/>
                  <a:ea typeface="Nunito"/>
                  <a:cs typeface="Nunito"/>
                  <a:sym typeface="Nunito"/>
                </a:rPr>
                <a:t>Photographs</a:t>
              </a:r>
              <a:endParaRPr sz="2300">
                <a:latin typeface="Nunito"/>
                <a:ea typeface="Nunito"/>
                <a:cs typeface="Nunito"/>
                <a:sym typeface="Nunito"/>
              </a:endParaRPr>
            </a:p>
            <a:p>
              <a:pPr indent="-374650" lvl="0" marL="457200" marR="0" rtl="0" algn="l">
                <a:lnSpc>
                  <a:spcPct val="100000"/>
                </a:lnSpc>
                <a:spcBef>
                  <a:spcPts val="0"/>
                </a:spcBef>
                <a:spcAft>
                  <a:spcPts val="0"/>
                </a:spcAft>
                <a:buSzPts val="2300"/>
                <a:buFont typeface="Nunito"/>
                <a:buChar char="●"/>
              </a:pPr>
              <a:r>
                <a:rPr lang="en" sz="2300">
                  <a:latin typeface="Nunito"/>
                  <a:ea typeface="Nunito"/>
                  <a:cs typeface="Nunito"/>
                  <a:sym typeface="Nunito"/>
                </a:rPr>
                <a:t>etc.</a:t>
              </a:r>
              <a:endParaRPr sz="2300">
                <a:latin typeface="Nunito"/>
                <a:ea typeface="Nunito"/>
                <a:cs typeface="Nunito"/>
                <a:sym typeface="Nuni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27"/>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224" name="Google Shape;224;p27"/>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25" name="Google Shape;225;p27"/>
          <p:cNvCxnSpPr/>
          <p:nvPr/>
        </p:nvCxnSpPr>
        <p:spPr>
          <a:xfrm>
            <a:off x="2136482" y="1715106"/>
            <a:ext cx="0" cy="2614500"/>
          </a:xfrm>
          <a:prstGeom prst="straightConnector1">
            <a:avLst/>
          </a:prstGeom>
          <a:noFill/>
          <a:ln cap="flat" cmpd="sng" w="9525">
            <a:solidFill>
              <a:srgbClr val="000000"/>
            </a:solidFill>
            <a:prstDash val="solid"/>
            <a:round/>
            <a:headEnd len="sm" w="sm" type="none"/>
            <a:tailEnd len="sm" w="sm" type="none"/>
          </a:ln>
        </p:spPr>
      </p:cxnSp>
      <p:cxnSp>
        <p:nvCxnSpPr>
          <p:cNvPr id="226" name="Google Shape;226;p27"/>
          <p:cNvCxnSpPr/>
          <p:nvPr/>
        </p:nvCxnSpPr>
        <p:spPr>
          <a:xfrm>
            <a:off x="3788880" y="1715106"/>
            <a:ext cx="0" cy="2614500"/>
          </a:xfrm>
          <a:prstGeom prst="straightConnector1">
            <a:avLst/>
          </a:prstGeom>
          <a:noFill/>
          <a:ln cap="flat" cmpd="sng" w="9525">
            <a:solidFill>
              <a:srgbClr val="000000"/>
            </a:solidFill>
            <a:prstDash val="solid"/>
            <a:round/>
            <a:headEnd len="sm" w="sm" type="none"/>
            <a:tailEnd len="sm" w="sm" type="none"/>
          </a:ln>
        </p:spPr>
      </p:cxnSp>
      <p:sp>
        <p:nvSpPr>
          <p:cNvPr id="227" name="Google Shape;227;p27"/>
          <p:cNvSpPr txBox="1"/>
          <p:nvPr/>
        </p:nvSpPr>
        <p:spPr>
          <a:xfrm>
            <a:off x="1095840" y="376843"/>
            <a:ext cx="6952200" cy="6312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None/>
            </a:pPr>
            <a:r>
              <a:rPr lang="en" sz="4100">
                <a:latin typeface="Cormorant Garamond Light"/>
                <a:ea typeface="Cormorant Garamond Light"/>
                <a:cs typeface="Cormorant Garamond Light"/>
                <a:sym typeface="Cormorant Garamond Light"/>
              </a:rPr>
              <a:t>What will questions ask me to do?</a:t>
            </a:r>
            <a:endParaRPr sz="100"/>
          </a:p>
        </p:txBody>
      </p:sp>
      <p:grpSp>
        <p:nvGrpSpPr>
          <p:cNvPr id="228" name="Google Shape;228;p27"/>
          <p:cNvGrpSpPr/>
          <p:nvPr/>
        </p:nvGrpSpPr>
        <p:grpSpPr>
          <a:xfrm>
            <a:off x="512413" y="3270935"/>
            <a:ext cx="1624052" cy="538304"/>
            <a:chOff x="-4" y="-66675"/>
            <a:chExt cx="4330804" cy="1435477"/>
          </a:xfrm>
        </p:grpSpPr>
        <p:sp>
          <p:nvSpPr>
            <p:cNvPr id="229" name="Google Shape;229;p27"/>
            <p:cNvSpPr txBox="1"/>
            <p:nvPr/>
          </p:nvSpPr>
          <p:spPr>
            <a:xfrm>
              <a:off x="0" y="-66675"/>
              <a:ext cx="43308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 sz="1500">
                  <a:latin typeface="Cormorant Garamond"/>
                  <a:ea typeface="Cormorant Garamond"/>
                  <a:cs typeface="Cormorant Garamond"/>
                  <a:sym typeface="Cormorant Garamond"/>
                </a:rPr>
                <a:t>Identify</a:t>
              </a:r>
              <a:endParaRPr sz="700"/>
            </a:p>
          </p:txBody>
        </p:sp>
        <p:sp>
          <p:nvSpPr>
            <p:cNvPr id="230" name="Google Shape;230;p27"/>
            <p:cNvSpPr txBox="1"/>
            <p:nvPr/>
          </p:nvSpPr>
          <p:spPr>
            <a:xfrm>
              <a:off x="-4" y="876202"/>
              <a:ext cx="4330800" cy="4926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1200">
                  <a:latin typeface="Nunito"/>
                  <a:ea typeface="Nunito"/>
                  <a:cs typeface="Nunito"/>
                  <a:sym typeface="Nunito"/>
                </a:rPr>
                <a:t>1 sentence</a:t>
              </a:r>
              <a:r>
                <a:rPr b="0" i="0" lang="en" sz="1200" u="none" cap="none" strike="noStrike">
                  <a:solidFill>
                    <a:srgbClr val="000000"/>
                  </a:solidFill>
                  <a:latin typeface="Nunito"/>
                  <a:ea typeface="Nunito"/>
                  <a:cs typeface="Nunito"/>
                  <a:sym typeface="Nunito"/>
                </a:rPr>
                <a:t>. </a:t>
              </a:r>
              <a:endParaRPr sz="1000"/>
            </a:p>
          </p:txBody>
        </p:sp>
      </p:grpSp>
      <p:sp>
        <p:nvSpPr>
          <p:cNvPr id="231" name="Google Shape;231;p27"/>
          <p:cNvSpPr/>
          <p:nvPr/>
        </p:nvSpPr>
        <p:spPr>
          <a:xfrm rot="5400000">
            <a:off x="7706897" y="-582854"/>
            <a:ext cx="3524604" cy="1928919"/>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232" name="Google Shape;232;p27"/>
          <p:cNvSpPr/>
          <p:nvPr/>
        </p:nvSpPr>
        <p:spPr>
          <a:xfrm rot="5400000">
            <a:off x="-2092884" y="-582854"/>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233" name="Google Shape;233;p27"/>
          <p:cNvSpPr txBox="1"/>
          <p:nvPr/>
        </p:nvSpPr>
        <p:spPr>
          <a:xfrm>
            <a:off x="2136402" y="3270935"/>
            <a:ext cx="16242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 sz="1500">
                <a:latin typeface="Cormorant Garamond"/>
                <a:ea typeface="Cormorant Garamond"/>
                <a:cs typeface="Cormorant Garamond"/>
                <a:sym typeface="Cormorant Garamond"/>
              </a:rPr>
              <a:t>Define</a:t>
            </a:r>
            <a:endParaRPr sz="700"/>
          </a:p>
        </p:txBody>
      </p:sp>
      <p:sp>
        <p:nvSpPr>
          <p:cNvPr id="234" name="Google Shape;234;p27"/>
          <p:cNvSpPr txBox="1"/>
          <p:nvPr/>
        </p:nvSpPr>
        <p:spPr>
          <a:xfrm>
            <a:off x="2136388" y="3622989"/>
            <a:ext cx="1624200" cy="1848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1200">
                <a:latin typeface="Nunito"/>
                <a:ea typeface="Nunito"/>
                <a:cs typeface="Nunito"/>
                <a:sym typeface="Nunito"/>
              </a:rPr>
              <a:t>2</a:t>
            </a:r>
            <a:r>
              <a:rPr lang="en" sz="1200">
                <a:latin typeface="Nunito"/>
                <a:ea typeface="Nunito"/>
                <a:cs typeface="Nunito"/>
                <a:sym typeface="Nunito"/>
              </a:rPr>
              <a:t> sentences</a:t>
            </a:r>
            <a:r>
              <a:rPr b="0" i="0" lang="en" sz="1200" u="none" cap="none" strike="noStrike">
                <a:solidFill>
                  <a:srgbClr val="000000"/>
                </a:solidFill>
                <a:latin typeface="Nunito"/>
                <a:ea typeface="Nunito"/>
                <a:cs typeface="Nunito"/>
                <a:sym typeface="Nunito"/>
              </a:rPr>
              <a:t> </a:t>
            </a:r>
            <a:endParaRPr sz="1000"/>
          </a:p>
        </p:txBody>
      </p:sp>
      <p:cxnSp>
        <p:nvCxnSpPr>
          <p:cNvPr id="235" name="Google Shape;235;p27"/>
          <p:cNvCxnSpPr/>
          <p:nvPr/>
        </p:nvCxnSpPr>
        <p:spPr>
          <a:xfrm>
            <a:off x="5484230" y="1715106"/>
            <a:ext cx="0" cy="2614500"/>
          </a:xfrm>
          <a:prstGeom prst="straightConnector1">
            <a:avLst/>
          </a:prstGeom>
          <a:noFill/>
          <a:ln cap="flat" cmpd="sng" w="9525">
            <a:solidFill>
              <a:srgbClr val="000000"/>
            </a:solidFill>
            <a:prstDash val="solid"/>
            <a:round/>
            <a:headEnd len="sm" w="sm" type="none"/>
            <a:tailEnd len="sm" w="sm" type="none"/>
          </a:ln>
        </p:spPr>
      </p:cxnSp>
      <p:cxnSp>
        <p:nvCxnSpPr>
          <p:cNvPr id="236" name="Google Shape;236;p27"/>
          <p:cNvCxnSpPr/>
          <p:nvPr/>
        </p:nvCxnSpPr>
        <p:spPr>
          <a:xfrm>
            <a:off x="7108430" y="1715106"/>
            <a:ext cx="0" cy="2614500"/>
          </a:xfrm>
          <a:prstGeom prst="straightConnector1">
            <a:avLst/>
          </a:prstGeom>
          <a:noFill/>
          <a:ln cap="flat" cmpd="sng" w="9525">
            <a:solidFill>
              <a:srgbClr val="000000"/>
            </a:solidFill>
            <a:prstDash val="solid"/>
            <a:round/>
            <a:headEnd len="sm" w="sm" type="none"/>
            <a:tailEnd len="sm" w="sm" type="none"/>
          </a:ln>
        </p:spPr>
      </p:cxnSp>
      <p:sp>
        <p:nvSpPr>
          <p:cNvPr id="237" name="Google Shape;237;p27"/>
          <p:cNvSpPr txBox="1"/>
          <p:nvPr/>
        </p:nvSpPr>
        <p:spPr>
          <a:xfrm>
            <a:off x="3860027" y="3270935"/>
            <a:ext cx="16242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 sz="1500">
                <a:latin typeface="Cormorant Garamond"/>
                <a:ea typeface="Cormorant Garamond"/>
                <a:cs typeface="Cormorant Garamond"/>
                <a:sym typeface="Cormorant Garamond"/>
              </a:rPr>
              <a:t>Describe</a:t>
            </a:r>
            <a:endParaRPr sz="700"/>
          </a:p>
        </p:txBody>
      </p:sp>
      <p:sp>
        <p:nvSpPr>
          <p:cNvPr id="238" name="Google Shape;238;p27"/>
          <p:cNvSpPr txBox="1"/>
          <p:nvPr/>
        </p:nvSpPr>
        <p:spPr>
          <a:xfrm>
            <a:off x="3824438" y="3622164"/>
            <a:ext cx="1624200" cy="1848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1200">
                <a:latin typeface="Nunito"/>
                <a:ea typeface="Nunito"/>
                <a:cs typeface="Nunito"/>
                <a:sym typeface="Nunito"/>
              </a:rPr>
              <a:t>2-3 sentences</a:t>
            </a:r>
            <a:r>
              <a:rPr b="0" i="0" lang="en" sz="1200" u="none" cap="none" strike="noStrike">
                <a:solidFill>
                  <a:srgbClr val="000000"/>
                </a:solidFill>
                <a:latin typeface="Nunito"/>
                <a:ea typeface="Nunito"/>
                <a:cs typeface="Nunito"/>
                <a:sym typeface="Nunito"/>
              </a:rPr>
              <a:t> </a:t>
            </a:r>
            <a:endParaRPr sz="1000"/>
          </a:p>
        </p:txBody>
      </p:sp>
      <p:pic>
        <p:nvPicPr>
          <p:cNvPr id="239" name="Google Shape;239;p27"/>
          <p:cNvPicPr preferRelativeResize="0"/>
          <p:nvPr/>
        </p:nvPicPr>
        <p:blipFill>
          <a:blip r:embed="rId5">
            <a:alphaModFix/>
          </a:blip>
          <a:stretch>
            <a:fillRect/>
          </a:stretch>
        </p:blipFill>
        <p:spPr>
          <a:xfrm>
            <a:off x="3984675" y="1945390"/>
            <a:ext cx="1253851" cy="937773"/>
          </a:xfrm>
          <a:prstGeom prst="rect">
            <a:avLst/>
          </a:prstGeom>
          <a:noFill/>
          <a:ln>
            <a:noFill/>
          </a:ln>
        </p:spPr>
      </p:pic>
      <p:pic>
        <p:nvPicPr>
          <p:cNvPr id="240" name="Google Shape;240;p27"/>
          <p:cNvPicPr preferRelativeResize="0"/>
          <p:nvPr/>
        </p:nvPicPr>
        <p:blipFill>
          <a:blip r:embed="rId6">
            <a:alphaModFix/>
          </a:blip>
          <a:stretch>
            <a:fillRect/>
          </a:stretch>
        </p:blipFill>
        <p:spPr>
          <a:xfrm flipH="1">
            <a:off x="2397182" y="1895675"/>
            <a:ext cx="1135555" cy="1128901"/>
          </a:xfrm>
          <a:prstGeom prst="rect">
            <a:avLst/>
          </a:prstGeom>
          <a:noFill/>
          <a:ln>
            <a:noFill/>
          </a:ln>
        </p:spPr>
      </p:pic>
      <p:sp>
        <p:nvSpPr>
          <p:cNvPr id="241" name="Google Shape;241;p27"/>
          <p:cNvSpPr txBox="1"/>
          <p:nvPr/>
        </p:nvSpPr>
        <p:spPr>
          <a:xfrm>
            <a:off x="5167850" y="401050"/>
            <a:ext cx="39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242" name="Google Shape;242;p27"/>
          <p:cNvPicPr preferRelativeResize="0"/>
          <p:nvPr/>
        </p:nvPicPr>
        <p:blipFill>
          <a:blip r:embed="rId7">
            <a:alphaModFix/>
          </a:blip>
          <a:stretch>
            <a:fillRect/>
          </a:stretch>
        </p:blipFill>
        <p:spPr>
          <a:xfrm>
            <a:off x="758247" y="1824294"/>
            <a:ext cx="1253851" cy="1271656"/>
          </a:xfrm>
          <a:prstGeom prst="rect">
            <a:avLst/>
          </a:prstGeom>
          <a:noFill/>
          <a:ln>
            <a:noFill/>
          </a:ln>
        </p:spPr>
      </p:pic>
      <p:sp>
        <p:nvSpPr>
          <p:cNvPr id="243" name="Google Shape;243;p27"/>
          <p:cNvSpPr txBox="1"/>
          <p:nvPr/>
        </p:nvSpPr>
        <p:spPr>
          <a:xfrm>
            <a:off x="5484227" y="3270935"/>
            <a:ext cx="16242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 sz="1500">
                <a:latin typeface="Cormorant Garamond"/>
                <a:ea typeface="Cormorant Garamond"/>
                <a:cs typeface="Cormorant Garamond"/>
                <a:sym typeface="Cormorant Garamond"/>
              </a:rPr>
              <a:t>Compare</a:t>
            </a:r>
            <a:endParaRPr sz="700"/>
          </a:p>
        </p:txBody>
      </p:sp>
      <p:sp>
        <p:nvSpPr>
          <p:cNvPr id="244" name="Google Shape;244;p27"/>
          <p:cNvSpPr txBox="1"/>
          <p:nvPr/>
        </p:nvSpPr>
        <p:spPr>
          <a:xfrm>
            <a:off x="5484213" y="3622989"/>
            <a:ext cx="1624200" cy="1848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1200">
                <a:latin typeface="Nunito"/>
                <a:ea typeface="Nunito"/>
                <a:cs typeface="Nunito"/>
                <a:sym typeface="Nunito"/>
              </a:rPr>
              <a:t>5-6</a:t>
            </a:r>
            <a:r>
              <a:rPr lang="en" sz="1200">
                <a:latin typeface="Nunito"/>
                <a:ea typeface="Nunito"/>
                <a:cs typeface="Nunito"/>
                <a:sym typeface="Nunito"/>
              </a:rPr>
              <a:t> sentences</a:t>
            </a:r>
            <a:r>
              <a:rPr b="0" i="0" lang="en" sz="1200" u="none" cap="none" strike="noStrike">
                <a:solidFill>
                  <a:srgbClr val="000000"/>
                </a:solidFill>
                <a:latin typeface="Nunito"/>
                <a:ea typeface="Nunito"/>
                <a:cs typeface="Nunito"/>
                <a:sym typeface="Nunito"/>
              </a:rPr>
              <a:t> </a:t>
            </a:r>
            <a:endParaRPr sz="1000"/>
          </a:p>
        </p:txBody>
      </p:sp>
      <p:pic>
        <p:nvPicPr>
          <p:cNvPr id="245" name="Google Shape;245;p27"/>
          <p:cNvPicPr preferRelativeResize="0"/>
          <p:nvPr/>
        </p:nvPicPr>
        <p:blipFill>
          <a:blip r:embed="rId8">
            <a:alphaModFix/>
          </a:blip>
          <a:stretch>
            <a:fillRect/>
          </a:stretch>
        </p:blipFill>
        <p:spPr>
          <a:xfrm>
            <a:off x="5729918" y="1891450"/>
            <a:ext cx="1135551" cy="1137331"/>
          </a:xfrm>
          <a:prstGeom prst="rect">
            <a:avLst/>
          </a:prstGeom>
          <a:noFill/>
          <a:ln>
            <a:noFill/>
          </a:ln>
        </p:spPr>
      </p:pic>
      <p:sp>
        <p:nvSpPr>
          <p:cNvPr id="246" name="Google Shape;246;p27"/>
          <p:cNvSpPr txBox="1"/>
          <p:nvPr/>
        </p:nvSpPr>
        <p:spPr>
          <a:xfrm>
            <a:off x="7108427" y="3270935"/>
            <a:ext cx="16242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 sz="1500">
                <a:latin typeface="Cormorant Garamond"/>
                <a:ea typeface="Cormorant Garamond"/>
                <a:cs typeface="Cormorant Garamond"/>
                <a:sym typeface="Cormorant Garamond"/>
              </a:rPr>
              <a:t>Explain</a:t>
            </a:r>
            <a:endParaRPr sz="700"/>
          </a:p>
        </p:txBody>
      </p:sp>
      <p:pic>
        <p:nvPicPr>
          <p:cNvPr id="247" name="Google Shape;247;p27"/>
          <p:cNvPicPr preferRelativeResize="0"/>
          <p:nvPr/>
        </p:nvPicPr>
        <p:blipFill>
          <a:blip r:embed="rId9">
            <a:alphaModFix/>
          </a:blip>
          <a:stretch>
            <a:fillRect/>
          </a:stretch>
        </p:blipFill>
        <p:spPr>
          <a:xfrm>
            <a:off x="7456900" y="1824300"/>
            <a:ext cx="927244" cy="1271650"/>
          </a:xfrm>
          <a:prstGeom prst="rect">
            <a:avLst/>
          </a:prstGeom>
          <a:noFill/>
          <a:ln>
            <a:noFill/>
          </a:ln>
        </p:spPr>
      </p:pic>
      <p:sp>
        <p:nvSpPr>
          <p:cNvPr id="248" name="Google Shape;248;p27"/>
          <p:cNvSpPr txBox="1"/>
          <p:nvPr/>
        </p:nvSpPr>
        <p:spPr>
          <a:xfrm>
            <a:off x="7136613" y="3676889"/>
            <a:ext cx="1624200" cy="184800"/>
          </a:xfrm>
          <a:prstGeom prst="rect">
            <a:avLst/>
          </a:prstGeom>
          <a:noFill/>
          <a:ln>
            <a:noFill/>
          </a:ln>
        </p:spPr>
        <p:txBody>
          <a:bodyPr anchorCtr="0" anchor="t" bIns="0" lIns="0" spcFirstLastPara="1" rIns="0" wrap="square" tIns="0">
            <a:spAutoFit/>
          </a:bodyPr>
          <a:lstStyle/>
          <a:p>
            <a:pPr indent="0" lvl="1" marL="0" marR="0" rtl="0" algn="ctr">
              <a:lnSpc>
                <a:spcPct val="100000"/>
              </a:lnSpc>
              <a:spcBef>
                <a:spcPts val="0"/>
              </a:spcBef>
              <a:spcAft>
                <a:spcPts val="0"/>
              </a:spcAft>
              <a:buNone/>
            </a:pPr>
            <a:r>
              <a:rPr lang="en" sz="1200">
                <a:latin typeface="Nunito"/>
                <a:ea typeface="Nunito"/>
                <a:cs typeface="Nunito"/>
                <a:sym typeface="Nunito"/>
              </a:rPr>
              <a:t>2-3</a:t>
            </a:r>
            <a:r>
              <a:rPr lang="en" sz="1200">
                <a:latin typeface="Nunito"/>
                <a:ea typeface="Nunito"/>
                <a:cs typeface="Nunito"/>
                <a:sym typeface="Nunito"/>
              </a:rPr>
              <a:t> sentences</a:t>
            </a:r>
            <a:r>
              <a:rPr b="0" i="0" lang="en" sz="1200" u="none" cap="none" strike="noStrike">
                <a:solidFill>
                  <a:srgbClr val="000000"/>
                </a:solidFill>
                <a:latin typeface="Nunito"/>
                <a:ea typeface="Nunito"/>
                <a:cs typeface="Nunito"/>
                <a:sym typeface="Nunito"/>
              </a:rPr>
              <a:t>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8"/>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cxnSp>
        <p:nvCxnSpPr>
          <p:cNvPr id="254" name="Google Shape;254;p28"/>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55" name="Google Shape;255;p28"/>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grpSp>
        <p:nvGrpSpPr>
          <p:cNvPr id="256" name="Google Shape;256;p28"/>
          <p:cNvGrpSpPr/>
          <p:nvPr/>
        </p:nvGrpSpPr>
        <p:grpSpPr>
          <a:xfrm>
            <a:off x="2010700" y="481025"/>
            <a:ext cx="5778219" cy="1088589"/>
            <a:chOff x="0" y="-9525"/>
            <a:chExt cx="8660400" cy="2902904"/>
          </a:xfrm>
        </p:grpSpPr>
        <p:sp>
          <p:nvSpPr>
            <p:cNvPr id="257" name="Google Shape;257;p28"/>
            <p:cNvSpPr txBox="1"/>
            <p:nvPr/>
          </p:nvSpPr>
          <p:spPr>
            <a:xfrm>
              <a:off x="0" y="-9525"/>
              <a:ext cx="86604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Identify</a:t>
              </a:r>
              <a:endParaRPr sz="5000">
                <a:latin typeface="Cormorant Garamond Light"/>
                <a:ea typeface="Cormorant Garamond Light"/>
                <a:cs typeface="Cormorant Garamond Light"/>
                <a:sym typeface="Cormorant Garamond Light"/>
              </a:endParaRPr>
            </a:p>
          </p:txBody>
        </p:sp>
        <p:sp>
          <p:nvSpPr>
            <p:cNvPr id="258" name="Google Shape;258;p28"/>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259" name="Google Shape;259;p28"/>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260" name="Google Shape;260;p28"/>
          <p:cNvSpPr txBox="1"/>
          <p:nvPr/>
        </p:nvSpPr>
        <p:spPr>
          <a:xfrm>
            <a:off x="505925" y="2008163"/>
            <a:ext cx="3256800" cy="23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u="sng">
                <a:latin typeface="Cormorant Garamond Light"/>
                <a:ea typeface="Cormorant Garamond Light"/>
                <a:cs typeface="Cormorant Garamond Light"/>
                <a:sym typeface="Cormorant Garamond Light"/>
              </a:rPr>
              <a:t>Identify two Disney Princesses:</a:t>
            </a:r>
            <a:endParaRPr sz="28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8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rPr lang="en" sz="2800">
                <a:latin typeface="Cormorant Garamond Light"/>
                <a:ea typeface="Cormorant Garamond Light"/>
                <a:cs typeface="Cormorant Garamond Light"/>
                <a:sym typeface="Cormorant Garamond Light"/>
              </a:rPr>
              <a:t>Two Disney Princesses are Ariel and Elsa.</a:t>
            </a:r>
            <a:endParaRPr sz="2800">
              <a:latin typeface="Cormorant Garamond Light"/>
              <a:ea typeface="Cormorant Garamond Light"/>
              <a:cs typeface="Cormorant Garamond Light"/>
              <a:sym typeface="Cormorant Garamond Light"/>
            </a:endParaRPr>
          </a:p>
        </p:txBody>
      </p:sp>
      <p:pic>
        <p:nvPicPr>
          <p:cNvPr id="261" name="Google Shape;261;p28"/>
          <p:cNvPicPr preferRelativeResize="0"/>
          <p:nvPr/>
        </p:nvPicPr>
        <p:blipFill>
          <a:blip r:embed="rId5">
            <a:alphaModFix/>
          </a:blip>
          <a:stretch>
            <a:fillRect/>
          </a:stretch>
        </p:blipFill>
        <p:spPr>
          <a:xfrm>
            <a:off x="3945200" y="1718150"/>
            <a:ext cx="4684452" cy="2635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29"/>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267" name="Google Shape;267;p29"/>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68" name="Google Shape;268;p29"/>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269" name="Google Shape;269;p29"/>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270" name="Google Shape;270;p29"/>
          <p:cNvGrpSpPr/>
          <p:nvPr/>
        </p:nvGrpSpPr>
        <p:grpSpPr>
          <a:xfrm>
            <a:off x="2010700" y="481025"/>
            <a:ext cx="5778219" cy="1088589"/>
            <a:chOff x="0" y="-9525"/>
            <a:chExt cx="8660400" cy="2902904"/>
          </a:xfrm>
        </p:grpSpPr>
        <p:sp>
          <p:nvSpPr>
            <p:cNvPr id="271" name="Google Shape;271;p29"/>
            <p:cNvSpPr txBox="1"/>
            <p:nvPr/>
          </p:nvSpPr>
          <p:spPr>
            <a:xfrm>
              <a:off x="0" y="-9525"/>
              <a:ext cx="86604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Identify</a:t>
              </a:r>
              <a:endParaRPr sz="5000">
                <a:latin typeface="Cormorant Garamond Light"/>
                <a:ea typeface="Cormorant Garamond Light"/>
                <a:cs typeface="Cormorant Garamond Light"/>
                <a:sym typeface="Cormorant Garamond Light"/>
              </a:endParaRPr>
            </a:p>
          </p:txBody>
        </p:sp>
        <p:sp>
          <p:nvSpPr>
            <p:cNvPr id="272" name="Google Shape;272;p29"/>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273" name="Google Shape;273;p29"/>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274" name="Google Shape;274;p29"/>
          <p:cNvSpPr txBox="1"/>
          <p:nvPr/>
        </p:nvSpPr>
        <p:spPr>
          <a:xfrm>
            <a:off x="505925" y="2008163"/>
            <a:ext cx="3256800" cy="23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900" u="sng">
                <a:latin typeface="Cormorant Garamond Light"/>
                <a:ea typeface="Cormorant Garamond Light"/>
                <a:cs typeface="Cormorant Garamond Light"/>
                <a:sym typeface="Cormorant Garamond Light"/>
              </a:rPr>
              <a:t>Identify two types ice cream.</a:t>
            </a:r>
            <a:endParaRPr sz="39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3900" u="sng">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3900">
                <a:latin typeface="Cormorant Garamond Light"/>
                <a:ea typeface="Cormorant Garamond Light"/>
                <a:cs typeface="Cormorant Garamond Light"/>
                <a:sym typeface="Cormorant Garamond Light"/>
              </a:rPr>
              <a:t>1 sentence. </a:t>
            </a:r>
            <a:endParaRPr sz="39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39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39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8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800">
              <a:latin typeface="Cormorant Garamond Light"/>
              <a:ea typeface="Cormorant Garamond Light"/>
              <a:cs typeface="Cormorant Garamond Light"/>
              <a:sym typeface="Cormorant Garamond Light"/>
            </a:endParaRPr>
          </a:p>
        </p:txBody>
      </p:sp>
      <p:pic>
        <p:nvPicPr>
          <p:cNvPr id="275" name="Google Shape;275;p29"/>
          <p:cNvPicPr preferRelativeResize="0"/>
          <p:nvPr/>
        </p:nvPicPr>
        <p:blipFill>
          <a:blip r:embed="rId5">
            <a:alphaModFix/>
          </a:blip>
          <a:stretch>
            <a:fillRect/>
          </a:stretch>
        </p:blipFill>
        <p:spPr>
          <a:xfrm>
            <a:off x="4504672" y="1729150"/>
            <a:ext cx="3937152" cy="2624124"/>
          </a:xfrm>
          <a:prstGeom prst="rect">
            <a:avLst/>
          </a:prstGeom>
          <a:noFill/>
          <a:ln>
            <a:noFill/>
          </a:ln>
        </p:spPr>
      </p:pic>
      <p:pic>
        <p:nvPicPr>
          <p:cNvPr descr="This is a Pear Deck interactive slide. Students, write your response." id="276" name="Google Shape;276;p29" title="This is a Pear Deck interactive slide. Students, write your response.">
            <a:hlinkClick r:id="rId6"/>
          </p:cNvPr>
          <p:cNvPicPr preferRelativeResize="0"/>
          <p:nvPr/>
        </p:nvPicPr>
        <p:blipFill>
          <a:blip r:embed="rId7">
            <a:alphaModFix/>
          </a:blip>
          <a:stretch>
            <a:fillRect/>
          </a:stretch>
        </p:blipFill>
        <p:spPr>
          <a:xfrm>
            <a:off x="0" y="4429125"/>
            <a:ext cx="9144000" cy="714375"/>
          </a:xfrm>
          <a:prstGeom prst="rect">
            <a:avLst/>
          </a:prstGeom>
          <a:noFill/>
          <a:ln>
            <a:noFill/>
          </a:ln>
        </p:spPr>
      </p:pic>
      <p:sp>
        <p:nvSpPr>
          <p:cNvPr id="277" name="Google Shape;277;p29">
            <a:hlinkClick r:id="rId8"/>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0"/>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283" name="Google Shape;283;p30"/>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84" name="Google Shape;284;p30"/>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285" name="Google Shape;285;p30"/>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286" name="Google Shape;286;p30"/>
          <p:cNvGrpSpPr/>
          <p:nvPr/>
        </p:nvGrpSpPr>
        <p:grpSpPr>
          <a:xfrm>
            <a:off x="2010693" y="481025"/>
            <a:ext cx="5462111" cy="1088600"/>
            <a:chOff x="0" y="-9553"/>
            <a:chExt cx="14565629" cy="2902932"/>
          </a:xfrm>
        </p:grpSpPr>
        <p:sp>
          <p:nvSpPr>
            <p:cNvPr id="287" name="Google Shape;287;p30"/>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Describe</a:t>
              </a:r>
              <a:endParaRPr sz="5000">
                <a:latin typeface="Cormorant Garamond Light"/>
                <a:ea typeface="Cormorant Garamond Light"/>
                <a:cs typeface="Cormorant Garamond Light"/>
                <a:sym typeface="Cormorant Garamond Light"/>
              </a:endParaRPr>
            </a:p>
          </p:txBody>
        </p:sp>
        <p:sp>
          <p:nvSpPr>
            <p:cNvPr id="288" name="Google Shape;288;p30"/>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289" name="Google Shape;289;p30"/>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290" name="Google Shape;290;p30"/>
          <p:cNvSpPr txBox="1"/>
          <p:nvPr/>
        </p:nvSpPr>
        <p:spPr>
          <a:xfrm>
            <a:off x="189725" y="1853450"/>
            <a:ext cx="44583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600" u="sng">
                <a:latin typeface="Cormorant Garamond Light"/>
                <a:ea typeface="Cormorant Garamond Light"/>
                <a:cs typeface="Cormorant Garamond Light"/>
                <a:sym typeface="Cormorant Garamond Light"/>
              </a:rPr>
              <a:t>Describe common characteristics of Disney Princesses.</a:t>
            </a:r>
            <a:endParaRPr sz="26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6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2400">
                <a:latin typeface="Cormorant Garamond Light"/>
                <a:ea typeface="Cormorant Garamond Light"/>
                <a:cs typeface="Cormorant Garamond Light"/>
                <a:sym typeface="Cormorant Garamond Light"/>
              </a:rPr>
              <a:t>Disney Princesses typically are shown in pastel, bright, or soft colors. They usually have long, thick hair and large eyes.</a:t>
            </a:r>
            <a:endParaRPr sz="24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600">
              <a:latin typeface="Cormorant Garamond Light"/>
              <a:ea typeface="Cormorant Garamond Light"/>
              <a:cs typeface="Cormorant Garamond Light"/>
              <a:sym typeface="Cormorant Garamond Light"/>
            </a:endParaRPr>
          </a:p>
        </p:txBody>
      </p:sp>
      <p:pic>
        <p:nvPicPr>
          <p:cNvPr id="291" name="Google Shape;291;p30"/>
          <p:cNvPicPr preferRelativeResize="0"/>
          <p:nvPr/>
        </p:nvPicPr>
        <p:blipFill>
          <a:blip r:embed="rId5">
            <a:alphaModFix/>
          </a:blip>
          <a:stretch>
            <a:fillRect/>
          </a:stretch>
        </p:blipFill>
        <p:spPr>
          <a:xfrm>
            <a:off x="4795575" y="1468125"/>
            <a:ext cx="4021575" cy="267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31"/>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297" name="Google Shape;297;p31"/>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298" name="Google Shape;298;p31"/>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299" name="Google Shape;299;p31"/>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00" name="Google Shape;300;p31"/>
          <p:cNvGrpSpPr/>
          <p:nvPr/>
        </p:nvGrpSpPr>
        <p:grpSpPr>
          <a:xfrm>
            <a:off x="2010693" y="481025"/>
            <a:ext cx="5462111" cy="1088600"/>
            <a:chOff x="0" y="-9553"/>
            <a:chExt cx="14565629" cy="2902932"/>
          </a:xfrm>
        </p:grpSpPr>
        <p:sp>
          <p:nvSpPr>
            <p:cNvPr id="301" name="Google Shape;301;p31"/>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Describe</a:t>
              </a:r>
              <a:endParaRPr sz="5000">
                <a:latin typeface="Cormorant Garamond Light"/>
                <a:ea typeface="Cormorant Garamond Light"/>
                <a:cs typeface="Cormorant Garamond Light"/>
                <a:sym typeface="Cormorant Garamond Light"/>
              </a:endParaRPr>
            </a:p>
          </p:txBody>
        </p:sp>
        <p:sp>
          <p:nvSpPr>
            <p:cNvPr id="302" name="Google Shape;302;p31"/>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03" name="Google Shape;303;p31"/>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04" name="Google Shape;304;p31"/>
          <p:cNvSpPr txBox="1"/>
          <p:nvPr/>
        </p:nvSpPr>
        <p:spPr>
          <a:xfrm>
            <a:off x="189725" y="1853450"/>
            <a:ext cx="49278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800" u="sng">
                <a:latin typeface="Cormorant Garamond Light"/>
                <a:ea typeface="Cormorant Garamond Light"/>
                <a:cs typeface="Cormorant Garamond Light"/>
                <a:sym typeface="Cormorant Garamond Light"/>
              </a:rPr>
              <a:t>Describe common characteristics of ice cream.</a:t>
            </a:r>
            <a:endParaRPr sz="3800" u="sng">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3800">
                <a:latin typeface="Cormorant Garamond Light"/>
                <a:ea typeface="Cormorant Garamond Light"/>
                <a:cs typeface="Cormorant Garamond Light"/>
                <a:sym typeface="Cormorant Garamond Light"/>
              </a:rPr>
              <a:t>2-3 sentences </a:t>
            </a:r>
            <a:endParaRPr sz="38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38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3800" u="sng">
              <a:latin typeface="Cormorant Garamond Light"/>
              <a:ea typeface="Cormorant Garamond Light"/>
              <a:cs typeface="Cormorant Garamond Light"/>
              <a:sym typeface="Cormorant Garamond Light"/>
            </a:endParaRPr>
          </a:p>
        </p:txBody>
      </p:sp>
      <p:pic>
        <p:nvPicPr>
          <p:cNvPr descr="This is a Pear Deck interactive slide. Students, write your response." id="305" name="Google Shape;305;p31" title="This is a Pear Deck interactive slide. Students, write your response.">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306" name="Google Shape;306;p31">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7" name="Google Shape;307;p31"/>
          <p:cNvPicPr preferRelativeResize="0"/>
          <p:nvPr/>
        </p:nvPicPr>
        <p:blipFill rotWithShape="1">
          <a:blip r:embed="rId8">
            <a:alphaModFix/>
          </a:blip>
          <a:srcRect b="8887" l="0" r="0" t="27993"/>
          <a:stretch/>
        </p:blipFill>
        <p:spPr>
          <a:xfrm>
            <a:off x="5275675" y="1360925"/>
            <a:ext cx="3429001" cy="3246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32"/>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13" name="Google Shape;313;p32"/>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14" name="Google Shape;314;p32"/>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15" name="Google Shape;315;p32"/>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16" name="Google Shape;316;p32"/>
          <p:cNvGrpSpPr/>
          <p:nvPr/>
        </p:nvGrpSpPr>
        <p:grpSpPr>
          <a:xfrm>
            <a:off x="2010693" y="481025"/>
            <a:ext cx="5462111" cy="1088600"/>
            <a:chOff x="0" y="-9553"/>
            <a:chExt cx="14565629" cy="2902932"/>
          </a:xfrm>
        </p:grpSpPr>
        <p:sp>
          <p:nvSpPr>
            <p:cNvPr id="317" name="Google Shape;317;p32"/>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Explain</a:t>
              </a:r>
              <a:endParaRPr sz="5000">
                <a:latin typeface="Cormorant Garamond Light"/>
                <a:ea typeface="Cormorant Garamond Light"/>
                <a:cs typeface="Cormorant Garamond Light"/>
                <a:sym typeface="Cormorant Garamond Light"/>
              </a:endParaRPr>
            </a:p>
          </p:txBody>
        </p:sp>
        <p:sp>
          <p:nvSpPr>
            <p:cNvPr id="318" name="Google Shape;318;p32"/>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19" name="Google Shape;319;p32"/>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20" name="Google Shape;320;p32"/>
          <p:cNvSpPr txBox="1"/>
          <p:nvPr/>
        </p:nvSpPr>
        <p:spPr>
          <a:xfrm>
            <a:off x="3681875" y="1199975"/>
            <a:ext cx="54621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600" u="sng">
                <a:latin typeface="Cormorant Garamond Light"/>
                <a:ea typeface="Cormorant Garamond Light"/>
                <a:cs typeface="Cormorant Garamond Light"/>
                <a:sym typeface="Cormorant Garamond Light"/>
              </a:rPr>
              <a:t>Explain why Disney Princesses are commonly shown in pastel colors.</a:t>
            </a:r>
            <a:endParaRPr sz="26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100" u="sng">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1900">
                <a:latin typeface="Cormorant Garamond Light"/>
                <a:ea typeface="Cormorant Garamond Light"/>
                <a:cs typeface="Cormorant Garamond Light"/>
                <a:sym typeface="Cormorant Garamond Light"/>
              </a:rPr>
              <a:t>Answer: Because colors red, black, and purple are the most memorable psychologically because they imply danger. Disney wants viewers to remember the actions of villains so that they won't repeat them. Therefore, characters like Scar and Jafar are usually shown in red, black, and purple. Princesses are shown in pastel colors in order to contrast their "good" with the villains "evil" in the story</a:t>
            </a:r>
            <a:endParaRPr sz="19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pic>
        <p:nvPicPr>
          <p:cNvPr id="321" name="Google Shape;321;p32"/>
          <p:cNvPicPr preferRelativeResize="0"/>
          <p:nvPr/>
        </p:nvPicPr>
        <p:blipFill>
          <a:blip r:embed="rId5">
            <a:alphaModFix/>
          </a:blip>
          <a:stretch>
            <a:fillRect/>
          </a:stretch>
        </p:blipFill>
        <p:spPr>
          <a:xfrm>
            <a:off x="111700" y="1569625"/>
            <a:ext cx="3440275" cy="3440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3"/>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27" name="Google Shape;327;p33"/>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28" name="Google Shape;328;p33"/>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29" name="Google Shape;329;p33"/>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30" name="Google Shape;330;p33"/>
          <p:cNvGrpSpPr/>
          <p:nvPr/>
        </p:nvGrpSpPr>
        <p:grpSpPr>
          <a:xfrm>
            <a:off x="2010693" y="481025"/>
            <a:ext cx="5462111" cy="1088600"/>
            <a:chOff x="0" y="-9553"/>
            <a:chExt cx="14565629" cy="2902932"/>
          </a:xfrm>
        </p:grpSpPr>
        <p:sp>
          <p:nvSpPr>
            <p:cNvPr id="331" name="Google Shape;331;p33"/>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Explain</a:t>
              </a:r>
              <a:endParaRPr sz="5000">
                <a:latin typeface="Cormorant Garamond Light"/>
                <a:ea typeface="Cormorant Garamond Light"/>
                <a:cs typeface="Cormorant Garamond Light"/>
                <a:sym typeface="Cormorant Garamond Light"/>
              </a:endParaRPr>
            </a:p>
          </p:txBody>
        </p:sp>
        <p:sp>
          <p:nvSpPr>
            <p:cNvPr id="332" name="Google Shape;332;p33"/>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33" name="Google Shape;333;p33"/>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34" name="Google Shape;334;p33"/>
          <p:cNvSpPr txBox="1"/>
          <p:nvPr/>
        </p:nvSpPr>
        <p:spPr>
          <a:xfrm>
            <a:off x="4633850" y="1620400"/>
            <a:ext cx="42513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600" u="sng">
                <a:latin typeface="Cormorant Garamond Light"/>
                <a:ea typeface="Cormorant Garamond Light"/>
                <a:cs typeface="Cormorant Garamond Light"/>
                <a:sym typeface="Cormorant Garamond Light"/>
              </a:rPr>
              <a:t>Explain why ice cream is more popular than other types of dessert.</a:t>
            </a:r>
            <a:endParaRPr sz="2600" u="sng">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2600" u="sng">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2600">
                <a:latin typeface="Cormorant Garamond Light"/>
                <a:ea typeface="Cormorant Garamond Light"/>
                <a:cs typeface="Cormorant Garamond Light"/>
                <a:sym typeface="Cormorant Garamond Light"/>
              </a:rPr>
              <a:t>2-3 sentences </a:t>
            </a:r>
            <a:endParaRPr sz="26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26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pic>
        <p:nvPicPr>
          <p:cNvPr descr="This is a Pear Deck interactive slide. Students, write your response." id="335" name="Google Shape;335;p33" title="This is a Pear Deck interactive slide. Students, write your response.">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336" name="Google Shape;336;p33">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7" name="Google Shape;337;p33"/>
          <p:cNvPicPr preferRelativeResize="0"/>
          <p:nvPr/>
        </p:nvPicPr>
        <p:blipFill>
          <a:blip r:embed="rId8">
            <a:alphaModFix/>
          </a:blip>
          <a:stretch>
            <a:fillRect/>
          </a:stretch>
        </p:blipFill>
        <p:spPr>
          <a:xfrm>
            <a:off x="71550" y="1620400"/>
            <a:ext cx="4133718" cy="2499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4"/>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43" name="Google Shape;343;p34"/>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44" name="Google Shape;344;p34"/>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45" name="Google Shape;345;p34"/>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46" name="Google Shape;346;p34"/>
          <p:cNvGrpSpPr/>
          <p:nvPr/>
        </p:nvGrpSpPr>
        <p:grpSpPr>
          <a:xfrm>
            <a:off x="2010693" y="481025"/>
            <a:ext cx="5462111" cy="1088600"/>
            <a:chOff x="0" y="-9553"/>
            <a:chExt cx="14565629" cy="2902932"/>
          </a:xfrm>
        </p:grpSpPr>
        <p:sp>
          <p:nvSpPr>
            <p:cNvPr id="347" name="Google Shape;347;p34"/>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Compare</a:t>
              </a:r>
              <a:endParaRPr sz="5000">
                <a:latin typeface="Cormorant Garamond Light"/>
                <a:ea typeface="Cormorant Garamond Light"/>
                <a:cs typeface="Cormorant Garamond Light"/>
                <a:sym typeface="Cormorant Garamond Light"/>
              </a:endParaRPr>
            </a:p>
          </p:txBody>
        </p:sp>
        <p:sp>
          <p:nvSpPr>
            <p:cNvPr id="348" name="Google Shape;348;p34"/>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49" name="Google Shape;349;p34"/>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50" name="Google Shape;350;p34"/>
          <p:cNvSpPr txBox="1"/>
          <p:nvPr/>
        </p:nvSpPr>
        <p:spPr>
          <a:xfrm>
            <a:off x="2010700" y="1199975"/>
            <a:ext cx="71334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latin typeface="Cormorant Garamond Light"/>
                <a:ea typeface="Cormorant Garamond Light"/>
                <a:cs typeface="Cormorant Garamond Light"/>
                <a:sym typeface="Cormorant Garamond Light"/>
              </a:rPr>
              <a:t>Question: Compare two Disney Princesses.</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pic>
        <p:nvPicPr>
          <p:cNvPr id="351" name="Google Shape;351;p34"/>
          <p:cNvPicPr preferRelativeResize="0"/>
          <p:nvPr/>
        </p:nvPicPr>
        <p:blipFill>
          <a:blip r:embed="rId5">
            <a:alphaModFix/>
          </a:blip>
          <a:stretch>
            <a:fillRect/>
          </a:stretch>
        </p:blipFill>
        <p:spPr>
          <a:xfrm>
            <a:off x="5712650" y="2229400"/>
            <a:ext cx="3344099" cy="2108350"/>
          </a:xfrm>
          <a:prstGeom prst="rect">
            <a:avLst/>
          </a:prstGeom>
          <a:noFill/>
          <a:ln>
            <a:noFill/>
          </a:ln>
        </p:spPr>
      </p:pic>
      <p:sp>
        <p:nvSpPr>
          <p:cNvPr id="352" name="Google Shape;352;p34"/>
          <p:cNvSpPr txBox="1"/>
          <p:nvPr/>
        </p:nvSpPr>
        <p:spPr>
          <a:xfrm>
            <a:off x="94850" y="1884725"/>
            <a:ext cx="5617800" cy="27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rmorant Garamond Light"/>
                <a:ea typeface="Cormorant Garamond Light"/>
                <a:cs typeface="Cormorant Garamond Light"/>
                <a:sym typeface="Cormorant Garamond Light"/>
              </a:rPr>
              <a:t>Answer: Elsa and Moana are both in leadership positions in their societies. Elsa is set to become the Queen of Arendelle while Moana is set to become to Queen of Motunui. Additionally, both Princesses flee their kingdoms before eventually returning home to rule. Water is a central aspect of both of the princesses stories. The geography of both princesses are different. While Elsa rules Arendelle, a kingdom set in Scandinavia, Moana rules Motunui, an island in the Pacific Ocean. Finally, Moana's parents are still alive to support here, while Elsa's parents died in a shipwreck when she was young.</a:t>
            </a:r>
            <a:endParaRPr sz="1800">
              <a:latin typeface="Cormorant Garamond Light"/>
              <a:ea typeface="Cormorant Garamond Light"/>
              <a:cs typeface="Cormorant Garamond Light"/>
              <a:sym typeface="Cormorant Garamon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5"/>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58" name="Google Shape;358;p35"/>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59" name="Google Shape;359;p35"/>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60" name="Google Shape;360;p35"/>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61" name="Google Shape;361;p35"/>
          <p:cNvGrpSpPr/>
          <p:nvPr/>
        </p:nvGrpSpPr>
        <p:grpSpPr>
          <a:xfrm>
            <a:off x="2010693" y="481025"/>
            <a:ext cx="5462111" cy="1088600"/>
            <a:chOff x="0" y="-9553"/>
            <a:chExt cx="14565629" cy="2902932"/>
          </a:xfrm>
        </p:grpSpPr>
        <p:sp>
          <p:nvSpPr>
            <p:cNvPr id="362" name="Google Shape;362;p35"/>
            <p:cNvSpPr txBox="1"/>
            <p:nvPr/>
          </p:nvSpPr>
          <p:spPr>
            <a:xfrm>
              <a:off x="29"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Compare</a:t>
              </a:r>
              <a:endParaRPr sz="5000">
                <a:latin typeface="Cormorant Garamond Light"/>
                <a:ea typeface="Cormorant Garamond Light"/>
                <a:cs typeface="Cormorant Garamond Light"/>
                <a:sym typeface="Cormorant Garamond Light"/>
              </a:endParaRPr>
            </a:p>
          </p:txBody>
        </p:sp>
        <p:sp>
          <p:nvSpPr>
            <p:cNvPr id="363" name="Google Shape;363;p35"/>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64" name="Google Shape;364;p35"/>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65" name="Google Shape;365;p35"/>
          <p:cNvSpPr txBox="1"/>
          <p:nvPr/>
        </p:nvSpPr>
        <p:spPr>
          <a:xfrm>
            <a:off x="395025" y="1994075"/>
            <a:ext cx="33291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latin typeface="Cormorant Garamond Light"/>
                <a:ea typeface="Cormorant Garamond Light"/>
                <a:cs typeface="Cormorant Garamond Light"/>
                <a:sym typeface="Cormorant Garamond Light"/>
              </a:rPr>
              <a:t>Compare (and Contrast) two different ice cream flavors</a:t>
            </a:r>
            <a:r>
              <a:rPr lang="en" sz="2500">
                <a:latin typeface="Cormorant Garamond Light"/>
                <a:ea typeface="Cormorant Garamond Light"/>
                <a:cs typeface="Cormorant Garamond Light"/>
                <a:sym typeface="Cormorant Garamond Light"/>
              </a:rPr>
              <a:t>         </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2500">
                <a:latin typeface="Cormorant Garamond Light"/>
                <a:ea typeface="Cormorant Garamond Light"/>
                <a:cs typeface="Cormorant Garamond Light"/>
                <a:sym typeface="Cormorant Garamond Light"/>
              </a:rPr>
              <a:t> 5-6 Sentences</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pic>
        <p:nvPicPr>
          <p:cNvPr descr="This is a Pear Deck interactive slide. Students, write your response." id="366" name="Google Shape;366;p35" title="This is a Pear Deck interactive slide. Students, write your response.">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367" name="Google Shape;367;p35">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5"/>
          <p:cNvPicPr preferRelativeResize="0"/>
          <p:nvPr/>
        </p:nvPicPr>
        <p:blipFill>
          <a:blip r:embed="rId8">
            <a:alphaModFix/>
          </a:blip>
          <a:stretch>
            <a:fillRect/>
          </a:stretch>
        </p:blipFill>
        <p:spPr>
          <a:xfrm>
            <a:off x="3907400" y="1789163"/>
            <a:ext cx="4938701" cy="2778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36"/>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74" name="Google Shape;374;p36"/>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p36"/>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76" name="Google Shape;376;p36"/>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77" name="Google Shape;377;p36"/>
          <p:cNvGrpSpPr/>
          <p:nvPr/>
        </p:nvGrpSpPr>
        <p:grpSpPr>
          <a:xfrm>
            <a:off x="2010693" y="481025"/>
            <a:ext cx="6750005" cy="1088600"/>
            <a:chOff x="0" y="-9553"/>
            <a:chExt cx="18000015" cy="2902932"/>
          </a:xfrm>
        </p:grpSpPr>
        <p:sp>
          <p:nvSpPr>
            <p:cNvPr id="378" name="Google Shape;378;p36"/>
            <p:cNvSpPr txBox="1"/>
            <p:nvPr/>
          </p:nvSpPr>
          <p:spPr>
            <a:xfrm>
              <a:off x="15" y="-9553"/>
              <a:ext cx="180000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To what Degree</a:t>
              </a:r>
              <a:endParaRPr sz="5000">
                <a:latin typeface="Cormorant Garamond Light"/>
                <a:ea typeface="Cormorant Garamond Light"/>
                <a:cs typeface="Cormorant Garamond Light"/>
                <a:sym typeface="Cormorant Garamond Light"/>
              </a:endParaRPr>
            </a:p>
          </p:txBody>
        </p:sp>
        <p:sp>
          <p:nvSpPr>
            <p:cNvPr id="379" name="Google Shape;379;p36"/>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80" name="Google Shape;380;p36"/>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81" name="Google Shape;381;p36"/>
          <p:cNvSpPr txBox="1"/>
          <p:nvPr/>
        </p:nvSpPr>
        <p:spPr>
          <a:xfrm>
            <a:off x="2010700" y="1199975"/>
            <a:ext cx="71334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latin typeface="Cormorant Garamond Light"/>
                <a:ea typeface="Cormorant Garamond Light"/>
                <a:cs typeface="Cormorant Garamond Light"/>
                <a:sym typeface="Cormorant Garamond Light"/>
              </a:rPr>
              <a:t>Question: Explain to what degree Disney Princesses </a:t>
            </a:r>
            <a:r>
              <a:rPr lang="en" sz="2500" u="sng">
                <a:latin typeface="Cormorant Garamond Light"/>
                <a:ea typeface="Cormorant Garamond Light"/>
                <a:cs typeface="Cormorant Garamond Light"/>
                <a:sym typeface="Cormorant Garamond Light"/>
              </a:rPr>
              <a:t>affect</a:t>
            </a:r>
            <a:r>
              <a:rPr lang="en" sz="2500" u="sng">
                <a:latin typeface="Cormorant Garamond Light"/>
                <a:ea typeface="Cormorant Garamond Light"/>
                <a:cs typeface="Cormorant Garamond Light"/>
                <a:sym typeface="Cormorant Garamond Light"/>
              </a:rPr>
              <a:t> children’s confidence </a:t>
            </a:r>
            <a:r>
              <a:rPr lang="en" sz="2500" u="sng">
                <a:latin typeface="Cormorant Garamond Light"/>
                <a:ea typeface="Cormorant Garamond Light"/>
                <a:cs typeface="Cormorant Garamond Light"/>
                <a:sym typeface="Cormorant Garamond Light"/>
              </a:rPr>
              <a:t>development.</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sp>
        <p:nvSpPr>
          <p:cNvPr id="382" name="Google Shape;382;p36"/>
          <p:cNvSpPr txBox="1"/>
          <p:nvPr/>
        </p:nvSpPr>
        <p:spPr>
          <a:xfrm>
            <a:off x="94850" y="2281575"/>
            <a:ext cx="5183700" cy="23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rmorant Garamond Light"/>
                <a:ea typeface="Cormorant Garamond Light"/>
                <a:cs typeface="Cormorant Garamond Light"/>
                <a:sym typeface="Cormorant Garamond Light"/>
              </a:rPr>
              <a:t>Answer: Seeing Disney Princesses and their stories can have a LARGE IMPACT on children and their confidence. Children can watch stories like Moana where she saves her home, or Elsa who learns to love herself and her powers. These uplifting stories can be positive examples to children on ways to deal with struggles in their own lives because they </a:t>
            </a:r>
            <a:r>
              <a:rPr lang="en" sz="1800">
                <a:latin typeface="Cormorant Garamond Light"/>
                <a:ea typeface="Cormorant Garamond Light"/>
                <a:cs typeface="Cormorant Garamond Light"/>
                <a:sym typeface="Cormorant Garamond Light"/>
              </a:rPr>
              <a:t>have</a:t>
            </a:r>
            <a:r>
              <a:rPr lang="en" sz="1800">
                <a:latin typeface="Cormorant Garamond Light"/>
                <a:ea typeface="Cormorant Garamond Light"/>
                <a:cs typeface="Cormorant Garamond Light"/>
                <a:sym typeface="Cormorant Garamond Light"/>
              </a:rPr>
              <a:t> good role models. </a:t>
            </a:r>
            <a:endParaRPr sz="1800">
              <a:latin typeface="Cormorant Garamond Light"/>
              <a:ea typeface="Cormorant Garamond Light"/>
              <a:cs typeface="Cormorant Garamond Light"/>
              <a:sym typeface="Cormorant Garamond Light"/>
            </a:endParaRPr>
          </a:p>
        </p:txBody>
      </p:sp>
      <p:pic>
        <p:nvPicPr>
          <p:cNvPr descr="Five Reasons Moana &gt; Elsa | dadcraft" id="383" name="Google Shape;383;p36"/>
          <p:cNvPicPr preferRelativeResize="0"/>
          <p:nvPr/>
        </p:nvPicPr>
        <p:blipFill>
          <a:blip r:embed="rId5">
            <a:alphaModFix/>
          </a:blip>
          <a:stretch>
            <a:fillRect/>
          </a:stretch>
        </p:blipFill>
        <p:spPr>
          <a:xfrm>
            <a:off x="5405375" y="2436850"/>
            <a:ext cx="3574851" cy="2010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37"/>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389" name="Google Shape;389;p37"/>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390" name="Google Shape;390;p37"/>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391" name="Google Shape;391;p37"/>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392" name="Google Shape;392;p37"/>
          <p:cNvGrpSpPr/>
          <p:nvPr/>
        </p:nvGrpSpPr>
        <p:grpSpPr>
          <a:xfrm>
            <a:off x="2010693" y="481025"/>
            <a:ext cx="6487656" cy="1088600"/>
            <a:chOff x="0" y="-9553"/>
            <a:chExt cx="17300415" cy="2902932"/>
          </a:xfrm>
        </p:grpSpPr>
        <p:sp>
          <p:nvSpPr>
            <p:cNvPr id="393" name="Google Shape;393;p37"/>
            <p:cNvSpPr txBox="1"/>
            <p:nvPr/>
          </p:nvSpPr>
          <p:spPr>
            <a:xfrm>
              <a:off x="15" y="-9553"/>
              <a:ext cx="173004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 sz="5000">
                  <a:latin typeface="Cormorant Garamond Light"/>
                  <a:ea typeface="Cormorant Garamond Light"/>
                  <a:cs typeface="Cormorant Garamond Light"/>
                  <a:sym typeface="Cormorant Garamond Light"/>
                </a:rPr>
                <a:t>Examples: To what Degree</a:t>
              </a:r>
              <a:endParaRPr sz="5000">
                <a:latin typeface="Cormorant Garamond Light"/>
                <a:ea typeface="Cormorant Garamond Light"/>
                <a:cs typeface="Cormorant Garamond Light"/>
                <a:sym typeface="Cormorant Garamond Light"/>
              </a:endParaRPr>
            </a:p>
          </p:txBody>
        </p:sp>
        <p:sp>
          <p:nvSpPr>
            <p:cNvPr id="394" name="Google Shape;394;p37"/>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395" name="Google Shape;395;p37"/>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396" name="Google Shape;396;p37"/>
          <p:cNvSpPr txBox="1"/>
          <p:nvPr/>
        </p:nvSpPr>
        <p:spPr>
          <a:xfrm>
            <a:off x="333900" y="2174275"/>
            <a:ext cx="4185000" cy="24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latin typeface="Cormorant Garamond Light"/>
                <a:ea typeface="Cormorant Garamond Light"/>
                <a:cs typeface="Cormorant Garamond Light"/>
                <a:sym typeface="Cormorant Garamond Light"/>
              </a:rPr>
              <a:t>Explain to what degree the brand reputation influences the perceived taste and satisfaction of ice cream.</a:t>
            </a:r>
            <a:r>
              <a:rPr lang="en" sz="2500">
                <a:latin typeface="Cormorant Garamond Light"/>
                <a:ea typeface="Cormorant Garamond Light"/>
                <a:cs typeface="Cormorant Garamond Light"/>
                <a:sym typeface="Cormorant Garamond Light"/>
              </a:rPr>
              <a:t>        </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rPr lang="en" sz="2500">
                <a:latin typeface="Cormorant Garamond Light"/>
                <a:ea typeface="Cormorant Garamond Light"/>
                <a:cs typeface="Cormorant Garamond Light"/>
                <a:sym typeface="Cormorant Garamond Light"/>
              </a:rPr>
              <a:t> 3-4 Sentences</a:t>
            </a:r>
            <a:endParaRPr sz="2500">
              <a:latin typeface="Cormorant Garamond Light"/>
              <a:ea typeface="Cormorant Garamond Light"/>
              <a:cs typeface="Cormorant Garamond Light"/>
              <a:sym typeface="Cormorant Garamond Light"/>
            </a:endParaRPr>
          </a:p>
          <a:p>
            <a:pPr indent="0" lvl="0" marL="0" rtl="0" algn="l">
              <a:spcBef>
                <a:spcPts val="0"/>
              </a:spcBef>
              <a:spcAft>
                <a:spcPts val="0"/>
              </a:spcAft>
              <a:buClr>
                <a:schemeClr val="dk1"/>
              </a:buClr>
              <a:buSzPts val="1100"/>
              <a:buFont typeface="Arial"/>
              <a:buNone/>
            </a:pPr>
            <a:r>
              <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2500" u="sng">
              <a:latin typeface="Cormorant Garamond Light"/>
              <a:ea typeface="Cormorant Garamond Light"/>
              <a:cs typeface="Cormorant Garamond Light"/>
              <a:sym typeface="Cormorant Garamond Light"/>
            </a:endParaRPr>
          </a:p>
          <a:p>
            <a:pPr indent="0" lvl="0" marL="0" rtl="0" algn="l">
              <a:spcBef>
                <a:spcPts val="0"/>
              </a:spcBef>
              <a:spcAft>
                <a:spcPts val="0"/>
              </a:spcAft>
              <a:buNone/>
            </a:pPr>
            <a:r>
              <a:t/>
            </a:r>
            <a:endParaRPr sz="1900">
              <a:latin typeface="Cormorant Garamond Light"/>
              <a:ea typeface="Cormorant Garamond Light"/>
              <a:cs typeface="Cormorant Garamond Light"/>
              <a:sym typeface="Cormorant Garamond Light"/>
            </a:endParaRPr>
          </a:p>
        </p:txBody>
      </p:sp>
      <p:pic>
        <p:nvPicPr>
          <p:cNvPr descr="This is a Pear Deck interactive slide. Students, write your response." id="397" name="Google Shape;397;p37" title="This is a Pear Deck interactive slide. Students, write your response.">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398" name="Google Shape;398;p37">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9" name="Google Shape;399;p37"/>
          <p:cNvPicPr preferRelativeResize="0"/>
          <p:nvPr/>
        </p:nvPicPr>
        <p:blipFill>
          <a:blip r:embed="rId8">
            <a:alphaModFix/>
          </a:blip>
          <a:stretch>
            <a:fillRect/>
          </a:stretch>
        </p:blipFill>
        <p:spPr>
          <a:xfrm>
            <a:off x="4518900" y="1630825"/>
            <a:ext cx="4562924" cy="2566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38"/>
          <p:cNvPicPr preferRelativeResize="0"/>
          <p:nvPr/>
        </p:nvPicPr>
        <p:blipFill rotWithShape="1">
          <a:blip r:embed="rId3">
            <a:alphaModFix/>
          </a:blip>
          <a:srcRect b="31261" l="0" r="0" t="31261"/>
          <a:stretch/>
        </p:blipFill>
        <p:spPr>
          <a:xfrm>
            <a:off x="0" y="0"/>
            <a:ext cx="9144001" cy="5143502"/>
          </a:xfrm>
          <a:prstGeom prst="rect">
            <a:avLst/>
          </a:prstGeom>
          <a:noFill/>
          <a:ln>
            <a:noFill/>
          </a:ln>
        </p:spPr>
      </p:pic>
      <p:cxnSp>
        <p:nvCxnSpPr>
          <p:cNvPr id="405" name="Google Shape;405;p38"/>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cxnSp>
        <p:nvCxnSpPr>
          <p:cNvPr id="406" name="Google Shape;406;p38"/>
          <p:cNvCxnSpPr/>
          <p:nvPr/>
        </p:nvCxnSpPr>
        <p:spPr>
          <a:xfrm>
            <a:off x="514350" y="481013"/>
            <a:ext cx="8115300" cy="0"/>
          </a:xfrm>
          <a:prstGeom prst="straightConnector1">
            <a:avLst/>
          </a:prstGeom>
          <a:noFill/>
          <a:ln cap="flat" cmpd="sng" w="9525">
            <a:solidFill>
              <a:srgbClr val="000000"/>
            </a:solidFill>
            <a:prstDash val="solid"/>
            <a:round/>
            <a:headEnd len="sm" w="sm" type="none"/>
            <a:tailEnd len="sm" w="sm" type="none"/>
          </a:ln>
        </p:spPr>
      </p:cxnSp>
      <p:sp>
        <p:nvSpPr>
          <p:cNvPr id="407" name="Google Shape;407;p38"/>
          <p:cNvSpPr txBox="1"/>
          <p:nvPr/>
        </p:nvSpPr>
        <p:spPr>
          <a:xfrm>
            <a:off x="2968463" y="4887316"/>
            <a:ext cx="32070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grpSp>
        <p:nvGrpSpPr>
          <p:cNvPr id="408" name="Google Shape;408;p38"/>
          <p:cNvGrpSpPr/>
          <p:nvPr/>
        </p:nvGrpSpPr>
        <p:grpSpPr>
          <a:xfrm>
            <a:off x="2010693" y="481025"/>
            <a:ext cx="5927511" cy="1088600"/>
            <a:chOff x="0" y="-9553"/>
            <a:chExt cx="15806696" cy="2902932"/>
          </a:xfrm>
        </p:grpSpPr>
        <p:sp>
          <p:nvSpPr>
            <p:cNvPr id="409" name="Google Shape;409;p38"/>
            <p:cNvSpPr txBox="1"/>
            <p:nvPr/>
          </p:nvSpPr>
          <p:spPr>
            <a:xfrm>
              <a:off x="1241096" y="-9553"/>
              <a:ext cx="14565600" cy="205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Font typeface="Arial"/>
                <a:buNone/>
              </a:pPr>
              <a:r>
                <a:rPr lang="en" sz="5000">
                  <a:latin typeface="Cormorant Garamond Light"/>
                  <a:ea typeface="Cormorant Garamond Light"/>
                  <a:cs typeface="Cormorant Garamond Light"/>
                  <a:sym typeface="Cormorant Garamond Light"/>
                </a:rPr>
                <a:t>Reminders</a:t>
              </a:r>
              <a:endParaRPr sz="5000">
                <a:latin typeface="Cormorant Garamond Light"/>
                <a:ea typeface="Cormorant Garamond Light"/>
                <a:cs typeface="Cormorant Garamond Light"/>
                <a:sym typeface="Cormorant Garamond Light"/>
              </a:endParaRPr>
            </a:p>
          </p:txBody>
        </p:sp>
        <p:sp>
          <p:nvSpPr>
            <p:cNvPr id="410" name="Google Shape;410;p38"/>
            <p:cNvSpPr txBox="1"/>
            <p:nvPr/>
          </p:nvSpPr>
          <p:spPr>
            <a:xfrm>
              <a:off x="0" y="2605979"/>
              <a:ext cx="5460900" cy="2874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grpSp>
      <p:sp>
        <p:nvSpPr>
          <p:cNvPr id="411" name="Google Shape;411;p38"/>
          <p:cNvSpPr/>
          <p:nvPr/>
        </p:nvSpPr>
        <p:spPr>
          <a:xfrm rot="5400000">
            <a:off x="-1002687" y="-873304"/>
            <a:ext cx="3524604" cy="1928920"/>
          </a:xfrm>
          <a:custGeom>
            <a:rect b="b" l="l" r="r" t="t"/>
            <a:pathLst>
              <a:path extrusionOk="0" h="3857839" w="7049207">
                <a:moveTo>
                  <a:pt x="0" y="0"/>
                </a:moveTo>
                <a:lnTo>
                  <a:pt x="7049208" y="0"/>
                </a:lnTo>
                <a:lnTo>
                  <a:pt x="7049208" y="3857839"/>
                </a:lnTo>
                <a:lnTo>
                  <a:pt x="0" y="3857839"/>
                </a:lnTo>
                <a:lnTo>
                  <a:pt x="0" y="0"/>
                </a:lnTo>
                <a:close/>
              </a:path>
            </a:pathLst>
          </a:custGeom>
          <a:blipFill rotWithShape="1">
            <a:blip r:embed="rId4">
              <a:alphaModFix/>
            </a:blip>
            <a:stretch>
              <a:fillRect b="0" l="0" r="0" t="0"/>
            </a:stretch>
          </a:blipFill>
          <a:ln>
            <a:noFill/>
          </a:ln>
        </p:spPr>
      </p:sp>
      <p:sp>
        <p:nvSpPr>
          <p:cNvPr id="412" name="Google Shape;412;p38"/>
          <p:cNvSpPr txBox="1"/>
          <p:nvPr/>
        </p:nvSpPr>
        <p:spPr>
          <a:xfrm>
            <a:off x="322200" y="2169025"/>
            <a:ext cx="4761600" cy="2718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Skim your FRQs, then make an outline.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In order to pass, need 12/21 points.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Label A. B. C. D. E. F. G.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Each strand is one point.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No double dipping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Give examples frequently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Use Vocab in context</a:t>
            </a:r>
            <a:endParaRPr sz="2100">
              <a:latin typeface="Cormorant Garamond Light"/>
              <a:ea typeface="Cormorant Garamond Light"/>
              <a:cs typeface="Cormorant Garamond Light"/>
              <a:sym typeface="Cormorant Garamond Light"/>
            </a:endParaRPr>
          </a:p>
        </p:txBody>
      </p:sp>
      <p:sp>
        <p:nvSpPr>
          <p:cNvPr id="413" name="Google Shape;413;p38"/>
          <p:cNvSpPr txBox="1"/>
          <p:nvPr/>
        </p:nvSpPr>
        <p:spPr>
          <a:xfrm>
            <a:off x="4974875" y="1967825"/>
            <a:ext cx="4010400" cy="2718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Identify topic, timeframe, key concepts, and command words.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Give space between answers.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Do not restate prompt.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No anti-examples. </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Short answers are risky.</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Always review answers</a:t>
            </a:r>
            <a:endParaRPr sz="2100">
              <a:latin typeface="Cormorant Garamond Light"/>
              <a:ea typeface="Cormorant Garamond Light"/>
              <a:cs typeface="Cormorant Garamond Light"/>
              <a:sym typeface="Cormorant Garamond Light"/>
            </a:endParaRPr>
          </a:p>
          <a:p>
            <a:pPr indent="-361950" lvl="0" marL="457200" rtl="0" algn="l">
              <a:spcBef>
                <a:spcPts val="0"/>
              </a:spcBef>
              <a:spcAft>
                <a:spcPts val="0"/>
              </a:spcAft>
              <a:buSzPts val="2100"/>
              <a:buFont typeface="Cormorant Garamond Light"/>
              <a:buChar char="●"/>
            </a:pPr>
            <a:r>
              <a:rPr lang="en" sz="2100">
                <a:latin typeface="Cormorant Garamond Light"/>
                <a:ea typeface="Cormorant Garamond Light"/>
                <a:cs typeface="Cormorant Garamond Light"/>
                <a:sym typeface="Cormorant Garamond Light"/>
              </a:rPr>
              <a:t>WRITE LEGIBLY!</a:t>
            </a:r>
            <a:endParaRPr sz="2100">
              <a:latin typeface="Cormorant Garamond Light"/>
              <a:ea typeface="Cormorant Garamond Light"/>
              <a:cs typeface="Cormorant Garamond Light"/>
              <a:sym typeface="Cormorant Garamon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39"/>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cxnSp>
        <p:nvCxnSpPr>
          <p:cNvPr id="419" name="Google Shape;419;p39"/>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sp>
        <p:nvSpPr>
          <p:cNvPr id="420" name="Google Shape;420;p39"/>
          <p:cNvSpPr txBox="1"/>
          <p:nvPr/>
        </p:nvSpPr>
        <p:spPr>
          <a:xfrm>
            <a:off x="2968463" y="4887316"/>
            <a:ext cx="3207074" cy="1698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sp>
        <p:nvSpPr>
          <p:cNvPr id="421" name="Google Shape;421;p39"/>
          <p:cNvSpPr txBox="1"/>
          <p:nvPr/>
        </p:nvSpPr>
        <p:spPr>
          <a:xfrm>
            <a:off x="514350" y="1804988"/>
            <a:ext cx="2627700" cy="16932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lang="en" sz="5000">
                <a:latin typeface="Cormorant Garamond Light"/>
                <a:ea typeface="Cormorant Garamond Light"/>
                <a:cs typeface="Cormorant Garamond Light"/>
                <a:sym typeface="Cormorant Garamond Light"/>
              </a:rPr>
              <a:t>Checklist for FRQ’s</a:t>
            </a:r>
            <a:endParaRPr sz="700"/>
          </a:p>
        </p:txBody>
      </p:sp>
      <p:sp>
        <p:nvSpPr>
          <p:cNvPr id="422" name="Google Shape;422;p39"/>
          <p:cNvSpPr txBox="1"/>
          <p:nvPr/>
        </p:nvSpPr>
        <p:spPr>
          <a:xfrm>
            <a:off x="3888122" y="984420"/>
            <a:ext cx="2068800" cy="1462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2500">
                <a:latin typeface="Cormorant Garamond"/>
                <a:ea typeface="Cormorant Garamond"/>
                <a:cs typeface="Cormorant Garamond"/>
                <a:sym typeface="Cormorant Garamond"/>
              </a:rPr>
              <a:t>Does it meet the length requirement?</a:t>
            </a:r>
            <a:endParaRPr sz="1700"/>
          </a:p>
        </p:txBody>
      </p:sp>
      <p:sp>
        <p:nvSpPr>
          <p:cNvPr id="423" name="Google Shape;423;p39"/>
          <p:cNvSpPr txBox="1"/>
          <p:nvPr/>
        </p:nvSpPr>
        <p:spPr>
          <a:xfrm>
            <a:off x="3888122" y="2726665"/>
            <a:ext cx="2068800" cy="200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2500">
                <a:latin typeface="Cormorant Garamond"/>
                <a:ea typeface="Cormorant Garamond"/>
                <a:cs typeface="Cormorant Garamond"/>
                <a:sym typeface="Cormorant Garamond"/>
              </a:rPr>
              <a:t>Does it use the expected vocabulary words?</a:t>
            </a:r>
            <a:endParaRPr sz="2500"/>
          </a:p>
        </p:txBody>
      </p:sp>
      <p:sp>
        <p:nvSpPr>
          <p:cNvPr id="424" name="Google Shape;424;p39"/>
          <p:cNvSpPr txBox="1"/>
          <p:nvPr/>
        </p:nvSpPr>
        <p:spPr>
          <a:xfrm>
            <a:off x="6297554" y="996770"/>
            <a:ext cx="2068800" cy="1462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2500">
                <a:latin typeface="Cormorant Garamond"/>
                <a:ea typeface="Cormorant Garamond"/>
                <a:cs typeface="Cormorant Garamond"/>
                <a:sym typeface="Cormorant Garamond"/>
              </a:rPr>
              <a:t>For compare Questions: Does it close the loop</a:t>
            </a:r>
            <a:endParaRPr sz="2500"/>
          </a:p>
        </p:txBody>
      </p:sp>
      <p:cxnSp>
        <p:nvCxnSpPr>
          <p:cNvPr id="425" name="Google Shape;425;p39"/>
          <p:cNvCxnSpPr/>
          <p:nvPr/>
        </p:nvCxnSpPr>
        <p:spPr>
          <a:xfrm rot="10800000">
            <a:off x="6065899" y="1017757"/>
            <a:ext cx="0" cy="3036032"/>
          </a:xfrm>
          <a:prstGeom prst="straightConnector1">
            <a:avLst/>
          </a:prstGeom>
          <a:noFill/>
          <a:ln cap="flat" cmpd="sng" w="9525">
            <a:solidFill>
              <a:srgbClr val="000000"/>
            </a:solidFill>
            <a:prstDash val="solid"/>
            <a:round/>
            <a:headEnd len="sm" w="sm" type="none"/>
            <a:tailEnd len="sm" w="sm" type="none"/>
          </a:ln>
        </p:spPr>
      </p:cxnSp>
      <p:cxnSp>
        <p:nvCxnSpPr>
          <p:cNvPr id="426" name="Google Shape;426;p39"/>
          <p:cNvCxnSpPr/>
          <p:nvPr/>
        </p:nvCxnSpPr>
        <p:spPr>
          <a:xfrm>
            <a:off x="3888122" y="2566988"/>
            <a:ext cx="4741529" cy="0"/>
          </a:xfrm>
          <a:prstGeom prst="straightConnector1">
            <a:avLst/>
          </a:prstGeom>
          <a:noFill/>
          <a:ln cap="flat" cmpd="sng" w="9525">
            <a:solidFill>
              <a:srgbClr val="000000"/>
            </a:solidFill>
            <a:prstDash val="solid"/>
            <a:round/>
            <a:headEnd len="sm" w="sm" type="none"/>
            <a:tailEnd len="sm" w="sm" type="none"/>
          </a:ln>
        </p:spPr>
      </p:cxnSp>
      <p:sp>
        <p:nvSpPr>
          <p:cNvPr id="427" name="Google Shape;427;p39"/>
          <p:cNvSpPr txBox="1"/>
          <p:nvPr/>
        </p:nvSpPr>
        <p:spPr>
          <a:xfrm>
            <a:off x="3888122" y="1674030"/>
            <a:ext cx="1405800" cy="107700"/>
          </a:xfrm>
          <a:prstGeom prst="rect">
            <a:avLst/>
          </a:prstGeom>
          <a:noFill/>
          <a:ln>
            <a:noFill/>
          </a:ln>
        </p:spPr>
        <p:txBody>
          <a:bodyPr anchorCtr="0" anchor="t" bIns="0" lIns="0" spcFirstLastPara="1" rIns="0" wrap="square" tIns="0">
            <a:spAutoFit/>
          </a:bodyPr>
          <a:lstStyle/>
          <a:p>
            <a:pPr indent="0" lvl="1" marL="0" marR="0" rtl="0" algn="l">
              <a:lnSpc>
                <a:spcPct val="100000"/>
              </a:lnSpc>
              <a:spcBef>
                <a:spcPts val="0"/>
              </a:spcBef>
              <a:spcAft>
                <a:spcPts val="0"/>
              </a:spcAft>
              <a:buNone/>
            </a:pPr>
            <a:r>
              <a:t/>
            </a:r>
            <a:endParaRPr sz="700"/>
          </a:p>
        </p:txBody>
      </p:sp>
      <p:sp>
        <p:nvSpPr>
          <p:cNvPr id="428" name="Google Shape;428;p39"/>
          <p:cNvSpPr/>
          <p:nvPr/>
        </p:nvSpPr>
        <p:spPr>
          <a:xfrm>
            <a:off x="-556141" y="-557767"/>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429" name="Google Shape;429;p39"/>
          <p:cNvSpPr/>
          <p:nvPr/>
        </p:nvSpPr>
        <p:spPr>
          <a:xfrm>
            <a:off x="8473744" y="2714777"/>
            <a:ext cx="3524604" cy="1928920"/>
          </a:xfrm>
          <a:custGeom>
            <a:rect b="b" l="l" r="r" t="t"/>
            <a:pathLst>
              <a:path extrusionOk="0" h="3857839" w="7049207">
                <a:moveTo>
                  <a:pt x="0" y="0"/>
                </a:moveTo>
                <a:lnTo>
                  <a:pt x="7049207" y="0"/>
                </a:lnTo>
                <a:lnTo>
                  <a:pt x="7049207" y="3857838"/>
                </a:lnTo>
                <a:lnTo>
                  <a:pt x="0" y="3857838"/>
                </a:lnTo>
                <a:lnTo>
                  <a:pt x="0" y="0"/>
                </a:lnTo>
                <a:close/>
              </a:path>
            </a:pathLst>
          </a:custGeom>
          <a:blipFill rotWithShape="1">
            <a:blip r:embed="rId4">
              <a:alphaModFix/>
            </a:blip>
            <a:stretch>
              <a:fillRect b="0" l="0" r="0" t="0"/>
            </a:stretch>
          </a:blipFill>
          <a:ln>
            <a:noFill/>
          </a:ln>
        </p:spPr>
      </p:sp>
      <p:sp>
        <p:nvSpPr>
          <p:cNvPr id="430" name="Google Shape;430;p39"/>
          <p:cNvSpPr txBox="1"/>
          <p:nvPr/>
        </p:nvSpPr>
        <p:spPr>
          <a:xfrm>
            <a:off x="6180947" y="2726665"/>
            <a:ext cx="2068800" cy="1462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2500">
                <a:latin typeface="Cormorant Garamond"/>
                <a:ea typeface="Cormorant Garamond"/>
                <a:cs typeface="Cormorant Garamond"/>
                <a:sym typeface="Cormorant Garamond"/>
              </a:rPr>
              <a:t>Does it FULLY answer the question?</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40"/>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sp>
        <p:nvSpPr>
          <p:cNvPr id="436" name="Google Shape;436;p40"/>
          <p:cNvSpPr txBox="1"/>
          <p:nvPr/>
        </p:nvSpPr>
        <p:spPr>
          <a:xfrm>
            <a:off x="2677295" y="2089052"/>
            <a:ext cx="3789300" cy="7695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lang="en" sz="5000">
                <a:latin typeface="Cormorant Garamond Light"/>
                <a:ea typeface="Cormorant Garamond Light"/>
                <a:cs typeface="Cormorant Garamond Light"/>
                <a:sym typeface="Cormorant Garamond Light"/>
              </a:rPr>
              <a:t>Time to write!</a:t>
            </a:r>
            <a:endParaRPr sz="700"/>
          </a:p>
        </p:txBody>
      </p:sp>
      <p:sp>
        <p:nvSpPr>
          <p:cNvPr id="437" name="Google Shape;437;p40"/>
          <p:cNvSpPr/>
          <p:nvPr/>
        </p:nvSpPr>
        <p:spPr>
          <a:xfrm rot="5400000">
            <a:off x="-49467" y="-155011"/>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sp>
        <p:nvSpPr>
          <p:cNvPr id="438" name="Google Shape;438;p40"/>
          <p:cNvSpPr/>
          <p:nvPr/>
        </p:nvSpPr>
        <p:spPr>
          <a:xfrm rot="5400000">
            <a:off x="5902888" y="3369592"/>
            <a:ext cx="3524604" cy="1928920"/>
          </a:xfrm>
          <a:custGeom>
            <a:rect b="b" l="l" r="r" t="t"/>
            <a:pathLst>
              <a:path extrusionOk="0" h="3857839" w="7049207">
                <a:moveTo>
                  <a:pt x="0" y="0"/>
                </a:moveTo>
                <a:lnTo>
                  <a:pt x="7049207" y="0"/>
                </a:lnTo>
                <a:lnTo>
                  <a:pt x="7049207" y="3857839"/>
                </a:lnTo>
                <a:lnTo>
                  <a:pt x="0" y="3857839"/>
                </a:lnTo>
                <a:lnTo>
                  <a:pt x="0" y="0"/>
                </a:lnTo>
                <a:close/>
              </a:path>
            </a:pathLst>
          </a:custGeom>
          <a:blipFill rotWithShape="1">
            <a:blip r:embed="rId4">
              <a:alphaModFix/>
            </a:blip>
            <a:stretch>
              <a:fillRect b="0" l="0" r="0" t="0"/>
            </a:stretch>
          </a:blipFill>
          <a:ln>
            <a:noFill/>
          </a:ln>
        </p:spPr>
      </p:sp>
      <p:cxnSp>
        <p:nvCxnSpPr>
          <p:cNvPr id="439" name="Google Shape;439;p40"/>
          <p:cNvCxnSpPr/>
          <p:nvPr/>
        </p:nvCxnSpPr>
        <p:spPr>
          <a:xfrm>
            <a:off x="3415846" y="1930246"/>
            <a:ext cx="5213804" cy="8390"/>
          </a:xfrm>
          <a:prstGeom prst="straightConnector1">
            <a:avLst/>
          </a:prstGeom>
          <a:noFill/>
          <a:ln cap="flat" cmpd="sng" w="9525">
            <a:solidFill>
              <a:srgbClr val="000000"/>
            </a:solidFill>
            <a:prstDash val="solid"/>
            <a:round/>
            <a:headEnd len="sm" w="sm" type="none"/>
            <a:tailEnd len="sm" w="sm" type="none"/>
          </a:ln>
        </p:spPr>
      </p:cxnSp>
      <p:cxnSp>
        <p:nvCxnSpPr>
          <p:cNvPr id="440" name="Google Shape;440;p40"/>
          <p:cNvCxnSpPr/>
          <p:nvPr/>
        </p:nvCxnSpPr>
        <p:spPr>
          <a:xfrm>
            <a:off x="748382" y="3584431"/>
            <a:ext cx="5213804" cy="8390"/>
          </a:xfrm>
          <a:prstGeom prst="straightConnector1">
            <a:avLst/>
          </a:prstGeom>
          <a:noFill/>
          <a:ln cap="flat" cmpd="sng" w="9525">
            <a:solidFill>
              <a:srgbClr val="000000"/>
            </a:solidFill>
            <a:prstDash val="solid"/>
            <a:round/>
            <a:headEnd len="sm" w="sm" type="none"/>
            <a:tailEnd len="sm" w="sm" type="none"/>
          </a:ln>
        </p:spPr>
      </p:cxnSp>
      <p:cxnSp>
        <p:nvCxnSpPr>
          <p:cNvPr id="441" name="Google Shape;441;p40"/>
          <p:cNvCxnSpPr/>
          <p:nvPr/>
        </p:nvCxnSpPr>
        <p:spPr>
          <a:xfrm>
            <a:off x="3415846" y="1552663"/>
            <a:ext cx="5213804" cy="8391"/>
          </a:xfrm>
          <a:prstGeom prst="straightConnector1">
            <a:avLst/>
          </a:prstGeom>
          <a:noFill/>
          <a:ln cap="flat" cmpd="sng" w="9525">
            <a:solidFill>
              <a:srgbClr val="000000"/>
            </a:solidFill>
            <a:prstDash val="solid"/>
            <a:round/>
            <a:headEnd len="sm" w="sm" type="none"/>
            <a:tailEnd len="sm" w="sm" type="none"/>
          </a:ln>
        </p:spPr>
      </p:cxnSp>
      <p:cxnSp>
        <p:nvCxnSpPr>
          <p:cNvPr id="442" name="Google Shape;442;p40"/>
          <p:cNvCxnSpPr/>
          <p:nvPr/>
        </p:nvCxnSpPr>
        <p:spPr>
          <a:xfrm>
            <a:off x="748382" y="3206848"/>
            <a:ext cx="5213804" cy="839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41"/>
          <p:cNvPicPr preferRelativeResize="0"/>
          <p:nvPr/>
        </p:nvPicPr>
        <p:blipFill rotWithShape="1">
          <a:blip r:embed="rId3">
            <a:alphaModFix/>
          </a:blip>
          <a:srcRect b="31261" l="0" r="0" t="31261"/>
          <a:stretch/>
        </p:blipFill>
        <p:spPr>
          <a:xfrm>
            <a:off x="0" y="0"/>
            <a:ext cx="9144000" cy="5143500"/>
          </a:xfrm>
          <a:prstGeom prst="rect">
            <a:avLst/>
          </a:prstGeom>
          <a:noFill/>
          <a:ln>
            <a:noFill/>
          </a:ln>
        </p:spPr>
      </p:pic>
      <p:cxnSp>
        <p:nvCxnSpPr>
          <p:cNvPr id="448" name="Google Shape;448;p41"/>
          <p:cNvCxnSpPr/>
          <p:nvPr/>
        </p:nvCxnSpPr>
        <p:spPr>
          <a:xfrm>
            <a:off x="514350" y="4786724"/>
            <a:ext cx="8115300" cy="0"/>
          </a:xfrm>
          <a:prstGeom prst="straightConnector1">
            <a:avLst/>
          </a:prstGeom>
          <a:noFill/>
          <a:ln cap="flat" cmpd="sng" w="9525">
            <a:solidFill>
              <a:srgbClr val="000000"/>
            </a:solidFill>
            <a:prstDash val="solid"/>
            <a:round/>
            <a:headEnd len="sm" w="sm" type="none"/>
            <a:tailEnd len="sm" w="sm" type="none"/>
          </a:ln>
        </p:spPr>
      </p:cxnSp>
      <p:sp>
        <p:nvSpPr>
          <p:cNvPr id="449" name="Google Shape;449;p41"/>
          <p:cNvSpPr txBox="1"/>
          <p:nvPr/>
        </p:nvSpPr>
        <p:spPr>
          <a:xfrm>
            <a:off x="2968463" y="4887316"/>
            <a:ext cx="3207074" cy="1698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Nunito"/>
                <a:ea typeface="Nunito"/>
                <a:cs typeface="Nunito"/>
                <a:sym typeface="Nunito"/>
              </a:rPr>
              <a:t>CLASS 2023</a:t>
            </a:r>
            <a:endParaRPr sz="700"/>
          </a:p>
        </p:txBody>
      </p:sp>
      <p:sp>
        <p:nvSpPr>
          <p:cNvPr id="450" name="Google Shape;450;p41"/>
          <p:cNvSpPr/>
          <p:nvPr/>
        </p:nvSpPr>
        <p:spPr>
          <a:xfrm rot="5400000">
            <a:off x="-2428513" y="-633198"/>
            <a:ext cx="3524604" cy="1928920"/>
          </a:xfrm>
          <a:custGeom>
            <a:rect b="b" l="l" r="r" t="t"/>
            <a:pathLst>
              <a:path extrusionOk="0" h="3857839" w="7049207">
                <a:moveTo>
                  <a:pt x="0" y="0"/>
                </a:moveTo>
                <a:lnTo>
                  <a:pt x="7049207" y="0"/>
                </a:lnTo>
                <a:lnTo>
                  <a:pt x="7049207" y="3857838"/>
                </a:lnTo>
                <a:lnTo>
                  <a:pt x="0" y="3857838"/>
                </a:lnTo>
                <a:lnTo>
                  <a:pt x="0" y="0"/>
                </a:lnTo>
                <a:close/>
              </a:path>
            </a:pathLst>
          </a:custGeom>
          <a:blipFill rotWithShape="1">
            <a:blip r:embed="rId4">
              <a:alphaModFix/>
            </a:blip>
            <a:stretch>
              <a:fillRect b="0" l="0" r="0" t="0"/>
            </a:stretch>
          </a:blipFill>
          <a:ln>
            <a:noFill/>
          </a:ln>
        </p:spPr>
      </p:sp>
      <p:pic>
        <p:nvPicPr>
          <p:cNvPr id="451" name="Google Shape;451;p41"/>
          <p:cNvPicPr preferRelativeResize="0"/>
          <p:nvPr/>
        </p:nvPicPr>
        <p:blipFill>
          <a:blip r:embed="rId5">
            <a:alphaModFix/>
          </a:blip>
          <a:stretch>
            <a:fillRect/>
          </a:stretch>
        </p:blipFill>
        <p:spPr>
          <a:xfrm>
            <a:off x="0" y="290950"/>
            <a:ext cx="6889549" cy="4395175"/>
          </a:xfrm>
          <a:prstGeom prst="rect">
            <a:avLst/>
          </a:prstGeom>
          <a:noFill/>
          <a:ln>
            <a:noFill/>
          </a:ln>
        </p:spPr>
      </p:pic>
      <p:sp>
        <p:nvSpPr>
          <p:cNvPr id="452" name="Google Shape;452;p41"/>
          <p:cNvSpPr txBox="1"/>
          <p:nvPr/>
        </p:nvSpPr>
        <p:spPr>
          <a:xfrm>
            <a:off x="6889550" y="0"/>
            <a:ext cx="2208600" cy="30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Cormorant Garamond"/>
                <a:ea typeface="Cormorant Garamond"/>
                <a:cs typeface="Cormorant Garamond"/>
                <a:sym typeface="Cormorant Garamond"/>
              </a:rPr>
              <a:t>A. </a:t>
            </a:r>
            <a:r>
              <a:rPr b="1" lang="en" sz="1600" u="sng">
                <a:latin typeface="Cormorant Garamond"/>
                <a:ea typeface="Cormorant Garamond"/>
                <a:cs typeface="Cormorant Garamond"/>
                <a:sym typeface="Cormorant Garamond"/>
              </a:rPr>
              <a:t>Identify</a:t>
            </a:r>
            <a:r>
              <a:rPr b="1" lang="en" sz="1600">
                <a:latin typeface="Cormorant Garamond"/>
                <a:ea typeface="Cormorant Garamond"/>
                <a:cs typeface="Cormorant Garamond"/>
                <a:sym typeface="Cormorant Garamond"/>
              </a:rPr>
              <a:t> what each point symbol on the map represents.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rPr b="1" lang="en" sz="1600">
                <a:latin typeface="Cormorant Garamond"/>
                <a:ea typeface="Cormorant Garamond"/>
                <a:cs typeface="Cormorant Garamond"/>
                <a:sym typeface="Cormorant Garamond"/>
              </a:rPr>
              <a:t>B. </a:t>
            </a:r>
            <a:r>
              <a:rPr b="1" lang="en" sz="1600" u="sng">
                <a:latin typeface="Cormorant Garamond"/>
                <a:ea typeface="Cormorant Garamond"/>
                <a:cs typeface="Cormorant Garamond"/>
                <a:sym typeface="Cormorant Garamond"/>
              </a:rPr>
              <a:t>Identify</a:t>
            </a:r>
            <a:r>
              <a:rPr b="1" lang="en" sz="1600">
                <a:latin typeface="Cormorant Garamond"/>
                <a:ea typeface="Cormorant Garamond"/>
                <a:cs typeface="Cormorant Garamond"/>
                <a:sym typeface="Cormorant Garamond"/>
              </a:rPr>
              <a:t> TWO topographic features shown on the map.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rPr b="1" lang="en" sz="1600">
                <a:latin typeface="Cormorant Garamond"/>
                <a:ea typeface="Cormorant Garamond"/>
                <a:cs typeface="Cormorant Garamond"/>
                <a:sym typeface="Cormorant Garamond"/>
              </a:rPr>
              <a:t>C. </a:t>
            </a:r>
            <a:r>
              <a:rPr b="1" lang="en" sz="1600" u="sng">
                <a:latin typeface="Cormorant Garamond"/>
                <a:ea typeface="Cormorant Garamond"/>
                <a:cs typeface="Cormorant Garamond"/>
                <a:sym typeface="Cormorant Garamond"/>
              </a:rPr>
              <a:t>Describe</a:t>
            </a:r>
            <a:r>
              <a:rPr b="1" lang="en" sz="1600">
                <a:latin typeface="Cormorant Garamond"/>
                <a:ea typeface="Cormorant Garamond"/>
                <a:cs typeface="Cormorant Garamond"/>
                <a:sym typeface="Cormorant Garamond"/>
              </a:rPr>
              <a:t> TWO ways that topography affects the spatial pattern of population distribution shown on the map.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t/>
            </a:r>
            <a:endParaRPr b="1" sz="1600">
              <a:latin typeface="Cormorant Garamond"/>
              <a:ea typeface="Cormorant Garamond"/>
              <a:cs typeface="Cormorant Garamond"/>
              <a:sym typeface="Cormorant Garamond"/>
            </a:endParaRPr>
          </a:p>
          <a:p>
            <a:pPr indent="0" lvl="0" marL="0" rtl="0" algn="l">
              <a:spcBef>
                <a:spcPts val="0"/>
              </a:spcBef>
              <a:spcAft>
                <a:spcPts val="0"/>
              </a:spcAft>
              <a:buNone/>
            </a:pPr>
            <a:r>
              <a:rPr b="1" lang="en" sz="1600">
                <a:latin typeface="Cormorant Garamond"/>
                <a:ea typeface="Cormorant Garamond"/>
                <a:cs typeface="Cormorant Garamond"/>
                <a:sym typeface="Cormorant Garamond"/>
              </a:rPr>
              <a:t>D. </a:t>
            </a:r>
            <a:r>
              <a:rPr b="1" lang="en" sz="1600" u="sng">
                <a:latin typeface="Cormorant Garamond"/>
                <a:ea typeface="Cormorant Garamond"/>
                <a:cs typeface="Cormorant Garamond"/>
                <a:sym typeface="Cormorant Garamond"/>
              </a:rPr>
              <a:t>Describe </a:t>
            </a:r>
            <a:r>
              <a:rPr b="1" lang="en" sz="1600">
                <a:latin typeface="Cormorant Garamond"/>
                <a:ea typeface="Cormorant Garamond"/>
                <a:cs typeface="Cormorant Garamond"/>
                <a:sym typeface="Cormorant Garamond"/>
              </a:rPr>
              <a:t>ONE way that the availability of natural resources may affect population distribution.</a:t>
            </a:r>
            <a:endParaRPr b="1" sz="1600">
              <a:latin typeface="Cormorant Garamond"/>
              <a:ea typeface="Cormorant Garamond"/>
              <a:cs typeface="Cormorant Garamond"/>
              <a:sym typeface="Cormorant Garamond"/>
            </a:endParaRPr>
          </a:p>
        </p:txBody>
      </p:sp>
      <p:pic>
        <p:nvPicPr>
          <p:cNvPr descr="This is a Pear Deck interactive slide. Students, write your response." id="453" name="Google Shape;453;p41" title="This is a Pear Deck interactive slide. Students, write your response.">
            <a:hlinkClick r:id="rId6"/>
          </p:cNvPr>
          <p:cNvPicPr preferRelativeResize="0"/>
          <p:nvPr/>
        </p:nvPicPr>
        <p:blipFill>
          <a:blip r:embed="rId7">
            <a:alphaModFix/>
          </a:blip>
          <a:stretch>
            <a:fillRect/>
          </a:stretch>
        </p:blipFill>
        <p:spPr>
          <a:xfrm>
            <a:off x="0" y="4429125"/>
            <a:ext cx="9144000" cy="714375"/>
          </a:xfrm>
          <a:prstGeom prst="rect">
            <a:avLst/>
          </a:prstGeom>
          <a:noFill/>
          <a:ln>
            <a:noFill/>
          </a:ln>
        </p:spPr>
      </p:pic>
      <p:sp>
        <p:nvSpPr>
          <p:cNvPr id="454" name="Google Shape;454;p41">
            <a:hlinkClick r:id="rId8"/>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271814"/>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